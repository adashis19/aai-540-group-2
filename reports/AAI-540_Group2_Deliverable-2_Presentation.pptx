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Heart-Disease Risk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9E8F"/>
                </a:solidFill>
                <a:latin typeface="Calibri"/>
              </a:rPr>
              <a:t>A Production-Ready MLOps System on AWS SageMaker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AAI-540 Machine Learning Operations  ·  Group 2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Ashis Das  ·  Hanmant Mhalappa Kattimani  ·  Ram Prasanth G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Instructor: Dr. Raj Garg  ·  University of San Diego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Business use case &amp; success metrics  (Ashis)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System architecture on AWS SageMaker  (Ashis)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Feature Store &amp; feature groups  (Hanmant)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Infrastructure monitoring  (Hanmant)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Model &amp; data monitoring  (Ram)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CI/CD pipeline: successful and failed runs  (Hanmant)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Model Registry  (Ram)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Batch inference outputs  (Ram)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44A52"/>
                </a:solidFill>
                <a:latin typeface="Calibri"/>
              </a:rPr>
              <a:t>• Future improvements, risks &amp; Q&amp;A  (All)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Business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6492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Stakeholder: population-health provider prioritising preventive outreach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Problem: identify likely CHD/MI from non-invasive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Supervised binary classification on CDC BRFSS target _MICHD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Data: BRFSS 2021 + 2022 (train), 2023 (held-out future year)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~1.3M records; ~8.5% positive class (imbalanced)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Screening aid — not a medical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463040"/>
            <a:ext cx="4114800" cy="43891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Calibri"/>
              </a:rPr>
              <a:t>Success metrics tied to goals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94560"/>
            <a:ext cx="3657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Recall (sensitivity): 0.819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PR-AUC: 0.321  (baseline 0.085)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ROC-AUC: 0.836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~3.8× lift over majority baseline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Subgroup recall tracked (sex, age)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Evaluated on a FUTURE year (2023)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System Architecture on AWS SageMaker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77440"/>
            <a:ext cx="1691640" cy="109728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S3 Raw
(XPT)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44A52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359152" y="2377440"/>
            <a:ext cx="1691640" cy="109728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Processing
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2504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44A52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5384" y="2377440"/>
            <a:ext cx="1691640" cy="109728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Feature
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8736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44A52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1616" y="2377440"/>
            <a:ext cx="1691640" cy="109728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SageMaker
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4968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44A52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7848" y="2377440"/>
            <a:ext cx="1691640" cy="109728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Model
Registry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44A52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377440"/>
            <a:ext cx="1691640" cy="109728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Batch
Transform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31920"/>
            <a:ext cx="1106424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SageMaker Model Monitor  +  CloudWatch   →   data-quality · model-quality · infrastructure dashboards &amp; alarms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A52"/>
                </a:solidFill>
                <a:latin typeface="Calibri"/>
              </a:rPr>
              <a:t>Leakage control (CVDINFR4, CVDCRHD4, _MICHD excluded) and train-only fit statistics are enforced in every stage. Temporal split (2021+2022 → 2023) simulates deployment on a future year.</a:t>
            </a:r>
          </a:p>
          <a:p>
            <a:pPr algn="l"/>
            <a:r>
              <a:rPr sz="1400" b="0">
                <a:solidFill>
                  <a:srgbClr val="444A52"/>
                </a:solidFill>
                <a:latin typeface="Calibri"/>
              </a:rPr>
              <a:t>Scope note: architecture designed for AWS SageMaker; components shown here as local equivalents (Learner Lab budget exhausted).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SAGEMAKER FEATURE STORE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Feature Store &amp; Feature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Feature group: heart-disease-features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15 features, shared across 2021 / 2022 / 2023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Record identifier + event time per row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Leakage columns excluded by design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Same features used for training AND inference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Guarantees train / serve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463040"/>
            <a:ext cx="4937760" cy="4297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Calibri"/>
              </a:rPr>
              <a:t>The 15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1488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Continuous: bmi, mental_health_days, phys_health_days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Demographics: age_group, sex, income_group, education_group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Health: gen_health, diabetes, kidney_disease, diff_walk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Lifestyle: smoked_100, smoker_status, phys_activity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Access: has_personal_doctor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CLOUDWATCH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Infrastructure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Job success / failure for every stage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Runtime / duration per stage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CPU &amp; memory utilisation (ml.m5.large)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Error-rate and invocation counts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Automated alarms on failure or runtime breach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Answers: did the pipeline run cleanly this cycle?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463040"/>
            <a:ext cx="4937760" cy="4297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Calibri"/>
              </a:rPr>
              <a:t>What we watch &amp;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1488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Success/failure → catch broken cycles fast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Duration → spot slow-downs &amp; cost creep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CPU / memory → right-size the instance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Errors → surface data or code faults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Alarm → notify on-call without manual checks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SAGEMAKER MODEL MONITOR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Model &amp; Data Monitoring</a:t>
            </a:r>
          </a:p>
        </p:txBody>
      </p:sp>
      <p:pic>
        <p:nvPicPr>
          <p:cNvPr id="5" name="Picture 4" descr="09_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154924" cy="3200400"/>
          </a:xfrm>
          <a:prstGeom prst="rect">
            <a:avLst/>
          </a:prstGeom>
        </p:spPr>
      </p:pic>
      <p:pic>
        <p:nvPicPr>
          <p:cNvPr id="6" name="Picture 5" descr="12_subgroup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211156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5488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Model quality: recall, PR-AUC, calibration (Brier) vs agreed floor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Data quality: feature-distribution &amp; missingness drift (PSI) vs baseline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44A52"/>
                </a:solidFill>
                <a:latin typeface="Calibri"/>
              </a:rPr>
              <a:t>• Fairness drift: subgroup recall by sex and age re-checked each cycle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SAGEMAKER PIPELINES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CI/CD Pipeline: Successful &amp; Failed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9E8F"/>
                </a:solidFill>
                <a:latin typeface="Calibri"/>
              </a:rPr>
              <a:t>SUCCESSFUL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Schema validate ✓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86584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Processing 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90088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Feature ingest 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593592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Training 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97096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Evaluation gate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800600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Register model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404104"/>
            <a:ext cx="4297680" cy="457200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Batch transform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Calibri"/>
              </a:rPr>
              <a:t>FAILED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783080"/>
            <a:ext cx="42976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Schema validate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386584"/>
            <a:ext cx="42976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Processing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2990088"/>
            <a:ext cx="42976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Feature ingest 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3593592"/>
            <a:ext cx="42976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Training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197096"/>
            <a:ext cx="42976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Evaluation gate — FAILS HERE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800600"/>
            <a:ext cx="4297680" cy="45720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Register model (skipped)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5404104"/>
            <a:ext cx="4297680" cy="45720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Batch transform (skipped)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SAGEMAKER MODEL REGISTRY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Model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Model package group: heart-disease-screening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Versioned models, each with captured metrics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Selected: XGBoost  (PR-AUC 0.321, recall 0.819)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Approval status gates deployment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Full lineage: data → features → training → model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One-click rollback to a prior approved 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463040"/>
            <a:ext cx="4937760" cy="4297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Calibri"/>
              </a:rPr>
              <a:t>Why a registry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1488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Governance: only Approved models deploy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Traceability: metrics travel with the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Auditability: full lineage for each version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Safety: fast rollback if quality regresses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• Reproducibility: pin the exact artifact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DESIGNED FOR SAGEMAKER BATCH TRANSFORM · SHOWN AS LOCAL EQUIVALENT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Batch Inference Outputs</a:t>
            </a:r>
          </a:p>
        </p:txBody>
      </p:sp>
      <p:pic>
        <p:nvPicPr>
          <p:cNvPr id="5" name="Picture 4" descr="1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424183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Batch Transform scores the 2023 cohort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Output in S3: risk probability per record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Threshold → prioritised outreach list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Recall 0.819 at the chosen operating point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Scales to hundreds of thousands of rows on ml.m5.large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44A52"/>
                </a:solidFill>
                <a:latin typeface="Calibri"/>
              </a:rPr>
              <a:t>• Screening prioritisation, NOT a diagnosis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9E8F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Future Improvements, Risks &amp;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Calibration + explicit screening-budget threshold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Odd-year model w/ blood pressure &amp; cholesterol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Survey-weighted metrics for US-population estimates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44A52"/>
                </a:solidFill>
                <a:latin typeface="Calibri"/>
              </a:rPr>
              <a:t>• SHAP explainability + automated fairness gate in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417320"/>
            <a:ext cx="4937760" cy="4572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1600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Calibri"/>
              </a:rPr>
              <a:t>Risks to manage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1488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44A52"/>
                </a:solidFill>
                <a:latin typeface="Calibri"/>
              </a:rPr>
              <a:t>• Low recall for younger adults — never use to rule OUT risk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44A52"/>
                </a:solidFill>
                <a:latin typeface="Calibri"/>
              </a:rPr>
              <a:t>• Self-report / telephone-survey selection bias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44A52"/>
                </a:solidFill>
                <a:latin typeface="Calibri"/>
              </a:rPr>
              <a:t>• Ethical: no insurance / discriminatory use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44A52"/>
                </a:solidFill>
                <a:latin typeface="Calibri"/>
              </a:rPr>
              <a:t>• Technical: cross-year schema drift (harmonised)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44A52"/>
                </a:solidFill>
                <a:latin typeface="Calibri"/>
              </a:rPr>
              <a:t>• Scalability/cost: low — batch on CPU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1A9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9E8F"/>
                </a:solidFill>
                <a:latin typeface="Calibri"/>
              </a:rPr>
              <a:t>GitHub: https://github.com/adashis19/AAI-540-Group-2.git</a:t>
            </a:r>
          </a:p>
          <a:p>
            <a:pPr algn="l"/>
            <a:r>
              <a:rPr sz="2000" b="0">
                <a:solidFill>
                  <a:srgbClr val="1A9E8F"/>
                </a:solidFill>
                <a:latin typeface="Calibri"/>
              </a:rPr>
              <a:t>AAI-540 · Group 2 · Heart-Disease Risk Screening MLOps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Ashis Das  ·  Hanmant Mhalappa Kattimani  ·  Ram Prasanth 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