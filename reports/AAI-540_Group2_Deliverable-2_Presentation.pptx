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Ashis Das (intro, 0:00-0:45)]</a:t>
            </a:r>
          </a:p>
          <a:p/>
          <a:p>
            <a:r>
              <a:t>Welcome. We are Group 2. Over the next ~12 minutes we will walk through our Heart-Disease Risk Screening ML system built on AWS SageMaker. I'll cover the business case and architecture, then Hanmant will present the feature store, infrastructure monitoring and the CI/CD pipeline, and Ram will present the monitoring, the model registry and batch inference. Each of us presents an equal portion. Let's start with the business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Ashis Das (0:45-1:15)]</a:t>
            </a:r>
          </a:p>
          <a:p/>
          <a:p>
            <a:r>
              <a:t>Here is our running order. We walk through the full MLOps system: the feature store, infrastructure monitoring, model and data monitoring, the CI/CD pipeline in both a successful and a failed state, the model registry, and the batch-inference outputs. We close with future improvements and risks. Each topic is explained on its slide, and the explanation is also in the notes below each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Ashis Das (1:15-2:15)]</a:t>
            </a:r>
          </a:p>
          <a:p/>
          <a:p>
            <a:r>
              <a:t>Our hypothetical stakeholder is a population-health provider that wants to prioritise adults for preventive heart-health outreach. Cardiovascular disease is often silent until a serious event. Using only NON-INVASIVE survey data — demographics, lifestyle and general health — our model flags individuals more likely to have coronary heart disease or a prior heart attack, so limited outreach budget targets the highest-risk people first. This is a screening aid, explicitly NOT a diagnosis. Success is measured by recall on a future year and by lift over a naive baseline.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Ashis Das (2:15-3:30)]</a:t>
            </a:r>
          </a:p>
          <a:p/>
          <a:p>
            <a:r>
              <a:t>Here's the end-to-end architecture. Raw BRFSS XPT files land in an S3 raw bucket. A SageMaker processing job harmonises them into parquet in a curated bucket and ingests features into SageMaker Feature Store. A SageMaker Pipeline orchestrates processing, training, an evaluation gate, and model registration into the Model Registry. Approved models run as Batch Transform jobs. Model Monitor and CloudWatch watch data quality, model quality and infrastructure. Every topic in this talk corresponds to a box on this diagram. One important note on scope: this architecture is designed for AWS SageMaker. Because AWS access was not available to us, we present each component as a design, and we implemented and validated the same pipeline logic locally — so the results and artifacts are real even though the managed services are presented as the intended design. For each component we explain the SageMaker service and the local implementation that backs it. I'll now hand over to Hanmant for the feature store.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Hanmant Mhalappa Kattimani (3:30-5:00)]</a:t>
            </a:r>
          </a:p>
          <a:p/>
          <a:p>
            <a:r>
              <a:t>This is our feature foundation. In the SageMaker design this is a Feature Store feature group; here we demonstrate the equivalent as the harmonised feature set we build and persist locally. It holds the 15 variables common to all three BRFSS years. It has three continuous features — BMI, poor mental-health days and poor physical-health days — and twelve categorical survey codes such as age band, sex, general health, smoker status, diabetes and difficulty walking. The three target-defining columns (CVDINFR4, CVDCRHD4 and _MICHD) are deliberately kept out to prevent leakage. Because both training and inference read from this same feature set, the features seen at inference are identical to those seen in training — that is how we guarantee train/serve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Hanmant Mhalappa Kattimani (5:00-6:15)]</a:t>
            </a:r>
          </a:p>
          <a:p/>
          <a:p>
            <a:r>
              <a:t>In the SageMaker design, infrastructure is monitored with CloudWatch dashboards and alarms; here we show the equivalent using our local job logs and run status. The design tracks whether each job succeeded or failed, how long each stage ran, CPU and memory utilisation on the ml.m5.large instances, and error and invocation counts, with alarms so that if a batch job fails or runs longer than its expected window, the team is notified automatically. The point of this layer is operational confidence: it tells the on-call engineer whether the pipeline ran cleanly in each screening cycle, regardless of how the model itself is performing.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Ram Prasanth G (6:15-7:45)]</a:t>
            </a:r>
          </a:p>
          <a:p/>
          <a:p>
            <a:r>
              <a:t>In the SageMaker design, model and data monitoring run through Model Monitor; here we show the equivalent reports we generate locally. We monitor three things after release. For model quality we track recall, PR-AUC and calibration against an agreed floor and alert if sensitivity drops. For data quality we watch feature distributions and missingness against the training baseline using a population-stability index, so drift is caught before it degrades the model. And for fairness we recompute subgroup recall by sex and age every cycle. The two charts on this slide are our actual outputs: the precision-recall curve on the left shows strong ranking of the rare positive class, and the subgroup chart on the right shows the performance gaps we explicitly track — higher recall for males and older adults, and low recall for younger adults whose prevalence is only about one percent.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Hanmant Mhalappa Kattimani (7:45-9:15)]</a:t>
            </a:r>
          </a:p>
          <a:p/>
          <a:p>
            <a:r>
              <a:t>In the SageMaker design this is a SageMaker Pipeline; here we demonstrate the equivalent with our local pipeline logic and test gate. The pipeline is a directed graph of stages: schema validation, processing, feature ingest, training, an evaluation gate, model registration, and batch scoring. The left column shows a successful run — every stage passes and the model is registered. The right column shows a failed run that is stopped at the evaluation gate: if the candidate's PR-AUC or recall falls below the current production model, or a required variable is missing for a year, the gate fails and the later stages never run, so a worse model can never be promoted. Our automated test suite — leakage, data-contract, temporal-split and preprocessor checks — runs as the very first step and currently passes five out of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Ram Prasanth G (9:15-10:15)]</a:t>
            </a:r>
          </a:p>
          <a:p/>
          <a:p>
            <a:r>
              <a:t>In the SageMaker design this is the Model Registry; here we demonstrate the equivalent with our saved model artifact and its metadata. Every model that passes the evaluation gate is recorded as a version together with the metrics it was approved on. Our selected version is XGBoost, recorded with a PR-AUC of 0.321 and recall of 0.819, and marked approved. Only an approved version is eligible for batch deployment, which gives us governance over what reaches production. The metadata also records lineage — from the data and features through training to the model artifact — so we can audit any prediction and roll back to a previous approved version if a new one misbehaves.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Ram Prasanth G (10:15-11:30)]</a:t>
            </a:r>
          </a:p>
          <a:p/>
          <a:p>
            <a:r>
              <a:t>Finally, the system producing value. In the SageMaker design this is a Batch Transform job; here we demonstrate the equivalent with our local batch-inference script (src/batch_inference.py). It scores the entire 2023 cohort and writes an output file where every person gets a heart-disease risk probability. Applying our operating threshold turns those probabilities into a ranked outreach list, so the health team contacts the highest-risk people first. The confusion matrix on the right puts this in context: at our chosen operating point we correctly catch about 82 percent of true cases. The job runs on a modest CPU instance and scales to hundreds of thousands of rows cheaply. And to be clear — this prioritises people for screening; it is not a medical diagnosis.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Ashis Das (11:30-12:30)]</a:t>
            </a:r>
          </a:p>
          <a:p/>
          <a:p>
            <a:r>
              <a:t>To close: future improvements include probability calibration with an explicit threshold policy, an odd-year model that adds blood pressure and cholesterol, survey-weighted metrics, and SHAP explanations wired into an automated fairness gate. Key risks: recall is low for younger, low-prevalence adults, so the tool must never be used to rule out risk; self-report and selection bias exist in survey data; and scores must not be misused for insurance or discriminatory decisions. Scalability and cost are low because we use batch scoring on modest CPU instances. Thanks for watching — we're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All]</a:t>
            </a:r>
          </a:p>
          <a:p/>
          <a:p>
            <a:r>
              <a:t>Thank you. Questions welcome. Our GitHub repository link is on this slide and in the design document.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1188720"/>
          </a:xfrm>
          <a:prstGeom prst="rect">
            <a:avLst/>
          </a:prstGeom>
          <a:noFill/>
        </p:spPr>
        <p:txBody>
          <a:bodyPr wrap="square">
            <a:spAutoFit/>
          </a:bodyPr>
          <a:lstStyle/>
          <a:p>
            <a:pPr algn="l"/>
            <a:r>
              <a:rPr sz="4600" b="1">
                <a:solidFill>
                  <a:srgbClr val="FFFFFF"/>
                </a:solidFill>
                <a:latin typeface="Calibri"/>
              </a:rPr>
              <a:t>Heart-Disease Risk Screening</a:t>
            </a:r>
          </a:p>
        </p:txBody>
      </p:sp>
      <p:sp>
        <p:nvSpPr>
          <p:cNvPr id="5" name="TextBox 4"/>
          <p:cNvSpPr txBox="1"/>
          <p:nvPr/>
        </p:nvSpPr>
        <p:spPr>
          <a:xfrm>
            <a:off x="731520" y="2468880"/>
            <a:ext cx="10698480" cy="731520"/>
          </a:xfrm>
          <a:prstGeom prst="rect">
            <a:avLst/>
          </a:prstGeom>
          <a:noFill/>
        </p:spPr>
        <p:txBody>
          <a:bodyPr wrap="square">
            <a:spAutoFit/>
          </a:bodyPr>
          <a:lstStyle/>
          <a:p>
            <a:pPr algn="l"/>
            <a:r>
              <a:rPr sz="2400" b="0">
                <a:solidFill>
                  <a:srgbClr val="1A9E8F"/>
                </a:solidFill>
                <a:latin typeface="Calibri"/>
              </a:rPr>
              <a:t>A Production-Ready MLOps System on AWS SageMaker</a:t>
            </a:r>
          </a:p>
        </p:txBody>
      </p:sp>
      <p:sp>
        <p:nvSpPr>
          <p:cNvPr id="6" name="TextBox 5"/>
          <p:cNvSpPr txBox="1"/>
          <p:nvPr/>
        </p:nvSpPr>
        <p:spPr>
          <a:xfrm>
            <a:off x="731520" y="4754880"/>
            <a:ext cx="10698480" cy="1097280"/>
          </a:xfrm>
          <a:prstGeom prst="rect">
            <a:avLst/>
          </a:prstGeom>
          <a:noFill/>
        </p:spPr>
        <p:txBody>
          <a:bodyPr wrap="square">
            <a:spAutoFit/>
          </a:bodyPr>
          <a:lstStyle/>
          <a:p>
            <a:pPr algn="l"/>
            <a:r>
              <a:rPr sz="1700" b="0">
                <a:solidFill>
                  <a:srgbClr val="FFFFFF"/>
                </a:solidFill>
                <a:latin typeface="Calibri"/>
              </a:rPr>
              <a:t>AAI-540 Machine Learning Operations  ·  Group 2</a:t>
            </a:r>
          </a:p>
          <a:p>
            <a:pPr algn="l"/>
            <a:r>
              <a:rPr sz="1700" b="0">
                <a:solidFill>
                  <a:srgbClr val="FFFFFF"/>
                </a:solidFill>
                <a:latin typeface="Calibri"/>
              </a:rPr>
              <a:t>Ashis Das  ·  Hanmant Mhalappa Kattimani  ·  Ram Prasanth G</a:t>
            </a:r>
          </a:p>
          <a:p>
            <a:pPr algn="l"/>
            <a:r>
              <a:rPr sz="1700" b="0">
                <a:solidFill>
                  <a:srgbClr val="FFFFFF"/>
                </a:solidFill>
                <a:latin typeface="Calibri"/>
              </a:rPr>
              <a:t>Instructor: Dr. Raj Garg  ·  University of San Diego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spAutoFit/>
          </a:bodyPr>
          <a:lstStyle/>
          <a:p>
            <a:pPr algn="l"/>
            <a:r>
              <a:rPr sz="1300" b="1">
                <a:solidFill>
                  <a:srgbClr val="1A9E8F"/>
                </a:solidFill>
                <a:latin typeface="Calibri"/>
              </a:rPr>
              <a:t>OVERVIEW</a:t>
            </a:r>
          </a:p>
        </p:txBody>
      </p:sp>
      <p:sp>
        <p:nvSpPr>
          <p:cNvPr id="4" name="TextBox 3"/>
          <p:cNvSpPr txBox="1"/>
          <p:nvPr/>
        </p:nvSpPr>
        <p:spPr>
          <a:xfrm>
            <a:off x="457200" y="384048"/>
            <a:ext cx="11247120" cy="640080"/>
          </a:xfrm>
          <a:prstGeom prst="rect">
            <a:avLst/>
          </a:prstGeom>
          <a:noFill/>
        </p:spPr>
        <p:txBody>
          <a:bodyPr wrap="square">
            <a:spAutoFit/>
          </a:bodyPr>
          <a:lstStyle/>
          <a:p>
            <a:pPr algn="l"/>
            <a:r>
              <a:rPr sz="2700" b="1">
                <a:solidFill>
                  <a:srgbClr val="FFFFFF"/>
                </a:solidFill>
                <a:latin typeface="Calibri"/>
              </a:rPr>
              <a:t>Agenda</a:t>
            </a:r>
          </a:p>
        </p:txBody>
      </p:sp>
      <p:sp>
        <p:nvSpPr>
          <p:cNvPr id="5" name="TextBox 4"/>
          <p:cNvSpPr txBox="1"/>
          <p:nvPr/>
        </p:nvSpPr>
        <p:spPr>
          <a:xfrm>
            <a:off x="640080" y="1371600"/>
            <a:ext cx="10789920" cy="4846320"/>
          </a:xfrm>
          <a:prstGeom prst="rect">
            <a:avLst/>
          </a:prstGeom>
          <a:noFill/>
        </p:spPr>
        <p:txBody>
          <a:bodyPr wrap="square">
            <a:spAutoFit/>
          </a:bodyPr>
          <a:lstStyle/>
          <a:p>
            <a:pPr>
              <a:spcAft>
                <a:spcPts val="600"/>
              </a:spcAft>
            </a:pPr>
            <a:r>
              <a:rPr sz="2000">
                <a:solidFill>
                  <a:srgbClr val="444A52"/>
                </a:solidFill>
                <a:latin typeface="Calibri"/>
              </a:rPr>
              <a:t>• Business use case &amp; success metrics  (Ashis)</a:t>
            </a:r>
          </a:p>
          <a:p>
            <a:pPr>
              <a:spcAft>
                <a:spcPts val="600"/>
              </a:spcAft>
            </a:pPr>
            <a:r>
              <a:rPr sz="2000">
                <a:solidFill>
                  <a:srgbClr val="444A52"/>
                </a:solidFill>
                <a:latin typeface="Calibri"/>
              </a:rPr>
              <a:t>• System architecture on AWS SageMaker  (Ashis)</a:t>
            </a:r>
          </a:p>
          <a:p>
            <a:pPr>
              <a:spcAft>
                <a:spcPts val="600"/>
              </a:spcAft>
            </a:pPr>
            <a:r>
              <a:rPr sz="2000">
                <a:solidFill>
                  <a:srgbClr val="444A52"/>
                </a:solidFill>
                <a:latin typeface="Calibri"/>
              </a:rPr>
              <a:t>• Feature Store &amp; feature groups  (Hanmant)</a:t>
            </a:r>
          </a:p>
          <a:p>
            <a:pPr>
              <a:spcAft>
                <a:spcPts val="600"/>
              </a:spcAft>
            </a:pPr>
            <a:r>
              <a:rPr sz="2000">
                <a:solidFill>
                  <a:srgbClr val="444A52"/>
                </a:solidFill>
                <a:latin typeface="Calibri"/>
              </a:rPr>
              <a:t>• Infrastructure monitoring  (Hanmant)</a:t>
            </a:r>
          </a:p>
          <a:p>
            <a:pPr>
              <a:spcAft>
                <a:spcPts val="600"/>
              </a:spcAft>
            </a:pPr>
            <a:r>
              <a:rPr sz="2000">
                <a:solidFill>
                  <a:srgbClr val="444A52"/>
                </a:solidFill>
                <a:latin typeface="Calibri"/>
              </a:rPr>
              <a:t>• Model &amp; data monitoring  (Ram)</a:t>
            </a:r>
          </a:p>
          <a:p>
            <a:pPr>
              <a:spcAft>
                <a:spcPts val="600"/>
              </a:spcAft>
            </a:pPr>
            <a:r>
              <a:rPr sz="2000">
                <a:solidFill>
                  <a:srgbClr val="444A52"/>
                </a:solidFill>
                <a:latin typeface="Calibri"/>
              </a:rPr>
              <a:t>• CI/CD pipeline: successful and failed runs  (Hanmant)</a:t>
            </a:r>
          </a:p>
          <a:p>
            <a:pPr>
              <a:spcAft>
                <a:spcPts val="600"/>
              </a:spcAft>
            </a:pPr>
            <a:r>
              <a:rPr sz="2000">
                <a:solidFill>
                  <a:srgbClr val="444A52"/>
                </a:solidFill>
                <a:latin typeface="Calibri"/>
              </a:rPr>
              <a:t>• Model Registry  (Ram)</a:t>
            </a:r>
          </a:p>
          <a:p>
            <a:pPr>
              <a:spcAft>
                <a:spcPts val="600"/>
              </a:spcAft>
            </a:pPr>
            <a:r>
              <a:rPr sz="2000">
                <a:solidFill>
                  <a:srgbClr val="444A52"/>
                </a:solidFill>
                <a:latin typeface="Calibri"/>
              </a:rPr>
              <a:t>• Batch inference outputs  (Ram)</a:t>
            </a:r>
          </a:p>
          <a:p>
            <a:pPr>
              <a:spcAft>
                <a:spcPts val="600"/>
              </a:spcAft>
            </a:pPr>
            <a:r>
              <a:rPr sz="2000">
                <a:solidFill>
                  <a:srgbClr val="444A52"/>
                </a:solidFill>
                <a:latin typeface="Calibri"/>
              </a:rPr>
              <a:t>• Future improvements, risks &amp; Q&amp;A  (All)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spAutoFit/>
          </a:bodyPr>
          <a:lstStyle/>
          <a:p>
            <a:pPr algn="l"/>
            <a:r>
              <a:rPr sz="1300" b="1">
                <a:solidFill>
                  <a:srgbClr val="1A9E8F"/>
                </a:solidFill>
                <a:latin typeface="Calibri"/>
              </a:rPr>
              <a:t>WHY THIS MATTERS</a:t>
            </a:r>
          </a:p>
        </p:txBody>
      </p:sp>
      <p:sp>
        <p:nvSpPr>
          <p:cNvPr id="4" name="TextBox 3"/>
          <p:cNvSpPr txBox="1"/>
          <p:nvPr/>
        </p:nvSpPr>
        <p:spPr>
          <a:xfrm>
            <a:off x="457200" y="384048"/>
            <a:ext cx="11247120" cy="640080"/>
          </a:xfrm>
          <a:prstGeom prst="rect">
            <a:avLst/>
          </a:prstGeom>
          <a:noFill/>
        </p:spPr>
        <p:txBody>
          <a:bodyPr wrap="square">
            <a:spAutoFit/>
          </a:bodyPr>
          <a:lstStyle/>
          <a:p>
            <a:pPr algn="l"/>
            <a:r>
              <a:rPr sz="2700" b="1">
                <a:solidFill>
                  <a:srgbClr val="FFFFFF"/>
                </a:solidFill>
                <a:latin typeface="Calibri"/>
              </a:rPr>
              <a:t>Business Use Case</a:t>
            </a:r>
          </a:p>
        </p:txBody>
      </p:sp>
      <p:sp>
        <p:nvSpPr>
          <p:cNvPr id="5" name="TextBox 4"/>
          <p:cNvSpPr txBox="1"/>
          <p:nvPr/>
        </p:nvSpPr>
        <p:spPr>
          <a:xfrm>
            <a:off x="640080" y="1371600"/>
            <a:ext cx="6492240" cy="4846320"/>
          </a:xfrm>
          <a:prstGeom prst="rect">
            <a:avLst/>
          </a:prstGeom>
          <a:noFill/>
        </p:spPr>
        <p:txBody>
          <a:bodyPr wrap="square">
            <a:spAutoFit/>
          </a:bodyPr>
          <a:lstStyle/>
          <a:p>
            <a:pPr>
              <a:spcAft>
                <a:spcPts val="600"/>
              </a:spcAft>
            </a:pPr>
            <a:r>
              <a:rPr sz="1800">
                <a:solidFill>
                  <a:srgbClr val="444A52"/>
                </a:solidFill>
                <a:latin typeface="Calibri"/>
              </a:rPr>
              <a:t>• Stakeholder: population-health provider prioritising preventive outreach</a:t>
            </a:r>
          </a:p>
          <a:p>
            <a:pPr>
              <a:spcAft>
                <a:spcPts val="600"/>
              </a:spcAft>
            </a:pPr>
            <a:r>
              <a:rPr sz="1800">
                <a:solidFill>
                  <a:srgbClr val="444A52"/>
                </a:solidFill>
                <a:latin typeface="Calibri"/>
              </a:rPr>
              <a:t>• Problem: identify likely CHD/MI from non-invasive data</a:t>
            </a:r>
          </a:p>
          <a:p>
            <a:pPr>
              <a:spcAft>
                <a:spcPts val="600"/>
              </a:spcAft>
            </a:pPr>
            <a:r>
              <a:rPr sz="1800">
                <a:solidFill>
                  <a:srgbClr val="444A52"/>
                </a:solidFill>
                <a:latin typeface="Calibri"/>
              </a:rPr>
              <a:t>• Supervised binary classification on CDC BRFSS target _MICHD</a:t>
            </a:r>
          </a:p>
          <a:p>
            <a:pPr>
              <a:spcAft>
                <a:spcPts val="600"/>
              </a:spcAft>
            </a:pPr>
            <a:r>
              <a:rPr sz="1800">
                <a:solidFill>
                  <a:srgbClr val="444A52"/>
                </a:solidFill>
                <a:latin typeface="Calibri"/>
              </a:rPr>
              <a:t>• Data: BRFSS 2021 + 2022 (train), 2023 (held-out future year)</a:t>
            </a:r>
          </a:p>
          <a:p>
            <a:pPr>
              <a:spcAft>
                <a:spcPts val="600"/>
              </a:spcAft>
            </a:pPr>
            <a:r>
              <a:rPr sz="1800">
                <a:solidFill>
                  <a:srgbClr val="444A52"/>
                </a:solidFill>
                <a:latin typeface="Calibri"/>
              </a:rPr>
              <a:t>• ~1.3M records; ~8.5% positive class (imbalanced)</a:t>
            </a:r>
          </a:p>
          <a:p>
            <a:pPr>
              <a:spcAft>
                <a:spcPts val="600"/>
              </a:spcAft>
            </a:pPr>
            <a:r>
              <a:rPr sz="1800">
                <a:solidFill>
                  <a:srgbClr val="444A52"/>
                </a:solidFill>
                <a:latin typeface="Calibri"/>
              </a:rPr>
              <a:t>• Screening aid — not a medical diagnosis</a:t>
            </a:r>
          </a:p>
        </p:txBody>
      </p:sp>
      <p:sp>
        <p:nvSpPr>
          <p:cNvPr id="6" name="Rectangle 5"/>
          <p:cNvSpPr/>
          <p:nvPr/>
        </p:nvSpPr>
        <p:spPr>
          <a:xfrm>
            <a:off x="7406640" y="1463040"/>
            <a:ext cx="4114800" cy="438912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35240" y="1645920"/>
            <a:ext cx="3657600" cy="457200"/>
          </a:xfrm>
          <a:prstGeom prst="rect">
            <a:avLst/>
          </a:prstGeom>
          <a:noFill/>
        </p:spPr>
        <p:txBody>
          <a:bodyPr wrap="square">
            <a:spAutoFit/>
          </a:bodyPr>
          <a:lstStyle/>
          <a:p>
            <a:pPr algn="l"/>
            <a:r>
              <a:rPr sz="1700" b="1">
                <a:solidFill>
                  <a:srgbClr val="0B1F3A"/>
                </a:solidFill>
                <a:latin typeface="Calibri"/>
              </a:rPr>
              <a:t>Success metrics tied to goals</a:t>
            </a:r>
          </a:p>
        </p:txBody>
      </p:sp>
      <p:sp>
        <p:nvSpPr>
          <p:cNvPr id="8" name="TextBox 7"/>
          <p:cNvSpPr txBox="1"/>
          <p:nvPr/>
        </p:nvSpPr>
        <p:spPr>
          <a:xfrm>
            <a:off x="7635240" y="2194560"/>
            <a:ext cx="3657600" cy="3566160"/>
          </a:xfrm>
          <a:prstGeom prst="rect">
            <a:avLst/>
          </a:prstGeom>
          <a:noFill/>
        </p:spPr>
        <p:txBody>
          <a:bodyPr wrap="square">
            <a:spAutoFit/>
          </a:bodyPr>
          <a:lstStyle/>
          <a:p>
            <a:pPr>
              <a:spcAft>
                <a:spcPts val="600"/>
              </a:spcAft>
            </a:pPr>
            <a:r>
              <a:rPr sz="1600">
                <a:solidFill>
                  <a:srgbClr val="444A52"/>
                </a:solidFill>
                <a:latin typeface="Calibri"/>
              </a:rPr>
              <a:t>• Recall (sensitivity): 0.819</a:t>
            </a:r>
          </a:p>
          <a:p>
            <a:pPr>
              <a:spcAft>
                <a:spcPts val="600"/>
              </a:spcAft>
            </a:pPr>
            <a:r>
              <a:rPr sz="1600">
                <a:solidFill>
                  <a:srgbClr val="444A52"/>
                </a:solidFill>
                <a:latin typeface="Calibri"/>
              </a:rPr>
              <a:t>• PR-AUC: 0.321  (baseline 0.085)</a:t>
            </a:r>
          </a:p>
          <a:p>
            <a:pPr>
              <a:spcAft>
                <a:spcPts val="600"/>
              </a:spcAft>
            </a:pPr>
            <a:r>
              <a:rPr sz="1600">
                <a:solidFill>
                  <a:srgbClr val="444A52"/>
                </a:solidFill>
                <a:latin typeface="Calibri"/>
              </a:rPr>
              <a:t>• ROC-AUC: 0.836</a:t>
            </a:r>
          </a:p>
          <a:p>
            <a:pPr>
              <a:spcAft>
                <a:spcPts val="600"/>
              </a:spcAft>
            </a:pPr>
            <a:r>
              <a:rPr sz="1600">
                <a:solidFill>
                  <a:srgbClr val="444A52"/>
                </a:solidFill>
                <a:latin typeface="Calibri"/>
              </a:rPr>
              <a:t>• ~3.8× lift over majority baseline</a:t>
            </a:r>
          </a:p>
          <a:p>
            <a:pPr>
              <a:spcAft>
                <a:spcPts val="600"/>
              </a:spcAft>
            </a:pPr>
            <a:r>
              <a:rPr sz="1600">
                <a:solidFill>
                  <a:srgbClr val="444A52"/>
                </a:solidFill>
                <a:latin typeface="Calibri"/>
              </a:rPr>
              <a:t>• Subgroup recall tracked (sex, age)</a:t>
            </a:r>
          </a:p>
          <a:p>
            <a:pPr>
              <a:spcAft>
                <a:spcPts val="600"/>
              </a:spcAft>
            </a:pPr>
            <a:r>
              <a:rPr sz="1600">
                <a:solidFill>
                  <a:srgbClr val="444A52"/>
                </a:solidFill>
                <a:latin typeface="Calibri"/>
              </a:rPr>
              <a:t>• Evaluated on a FUTURE year (2023)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spAutoFit/>
          </a:bodyPr>
          <a:lstStyle/>
          <a:p>
            <a:pPr algn="l"/>
            <a:r>
              <a:rPr sz="1300" b="1">
                <a:solidFill>
                  <a:srgbClr val="1A9E8F"/>
                </a:solidFill>
                <a:latin typeface="Calibri"/>
              </a:rPr>
              <a:t>HOW IT FITS TOGETHER</a:t>
            </a:r>
          </a:p>
        </p:txBody>
      </p:sp>
      <p:sp>
        <p:nvSpPr>
          <p:cNvPr id="4" name="TextBox 3"/>
          <p:cNvSpPr txBox="1"/>
          <p:nvPr/>
        </p:nvSpPr>
        <p:spPr>
          <a:xfrm>
            <a:off x="457200" y="384048"/>
            <a:ext cx="11247120" cy="640080"/>
          </a:xfrm>
          <a:prstGeom prst="rect">
            <a:avLst/>
          </a:prstGeom>
          <a:noFill/>
        </p:spPr>
        <p:txBody>
          <a:bodyPr wrap="square">
            <a:spAutoFit/>
          </a:bodyPr>
          <a:lstStyle/>
          <a:p>
            <a:pPr algn="l"/>
            <a:r>
              <a:rPr sz="2700" b="1">
                <a:solidFill>
                  <a:srgbClr val="FFFFFF"/>
                </a:solidFill>
                <a:latin typeface="Calibri"/>
              </a:rPr>
              <a:t>System Architecture on AWS SageMaker</a:t>
            </a:r>
          </a:p>
        </p:txBody>
      </p:sp>
      <p:sp>
        <p:nvSpPr>
          <p:cNvPr id="5" name="Rectangle 4"/>
          <p:cNvSpPr/>
          <p:nvPr/>
        </p:nvSpPr>
        <p:spPr>
          <a:xfrm>
            <a:off x="502920" y="2377440"/>
            <a:ext cx="1691640" cy="109728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S3 Raw
(XPT)</a:t>
            </a:r>
          </a:p>
        </p:txBody>
      </p:sp>
      <p:sp>
        <p:nvSpPr>
          <p:cNvPr id="6" name="TextBox 5"/>
          <p:cNvSpPr txBox="1"/>
          <p:nvPr/>
        </p:nvSpPr>
        <p:spPr>
          <a:xfrm>
            <a:off x="2176272" y="2651760"/>
            <a:ext cx="201168" cy="457200"/>
          </a:xfrm>
          <a:prstGeom prst="rect">
            <a:avLst/>
          </a:prstGeom>
          <a:noFill/>
        </p:spPr>
        <p:txBody>
          <a:bodyPr wrap="square">
            <a:spAutoFit/>
          </a:bodyPr>
          <a:lstStyle/>
          <a:p>
            <a:pPr algn="ctr"/>
            <a:r>
              <a:rPr sz="2000" b="0">
                <a:solidFill>
                  <a:srgbClr val="444A52"/>
                </a:solidFill>
                <a:latin typeface="Calibri"/>
              </a:rPr>
              <a:t>→</a:t>
            </a:r>
          </a:p>
        </p:txBody>
      </p:sp>
      <p:sp>
        <p:nvSpPr>
          <p:cNvPr id="7" name="Rectangle 6"/>
          <p:cNvSpPr/>
          <p:nvPr/>
        </p:nvSpPr>
        <p:spPr>
          <a:xfrm>
            <a:off x="2359152" y="2377440"/>
            <a:ext cx="1691640" cy="109728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Processing
Job</a:t>
            </a:r>
          </a:p>
        </p:txBody>
      </p:sp>
      <p:sp>
        <p:nvSpPr>
          <p:cNvPr id="8" name="TextBox 7"/>
          <p:cNvSpPr txBox="1"/>
          <p:nvPr/>
        </p:nvSpPr>
        <p:spPr>
          <a:xfrm>
            <a:off x="4032504" y="2651760"/>
            <a:ext cx="201168" cy="457200"/>
          </a:xfrm>
          <a:prstGeom prst="rect">
            <a:avLst/>
          </a:prstGeom>
          <a:noFill/>
        </p:spPr>
        <p:txBody>
          <a:bodyPr wrap="square">
            <a:spAutoFit/>
          </a:bodyPr>
          <a:lstStyle/>
          <a:p>
            <a:pPr algn="ctr"/>
            <a:r>
              <a:rPr sz="2000" b="0">
                <a:solidFill>
                  <a:srgbClr val="444A52"/>
                </a:solidFill>
                <a:latin typeface="Calibri"/>
              </a:rPr>
              <a:t>→</a:t>
            </a:r>
          </a:p>
        </p:txBody>
      </p:sp>
      <p:sp>
        <p:nvSpPr>
          <p:cNvPr id="9" name="Rectangle 8"/>
          <p:cNvSpPr/>
          <p:nvPr/>
        </p:nvSpPr>
        <p:spPr>
          <a:xfrm>
            <a:off x="4215384" y="2377440"/>
            <a:ext cx="1691640" cy="109728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Feature
Store</a:t>
            </a:r>
          </a:p>
        </p:txBody>
      </p:sp>
      <p:sp>
        <p:nvSpPr>
          <p:cNvPr id="10" name="TextBox 9"/>
          <p:cNvSpPr txBox="1"/>
          <p:nvPr/>
        </p:nvSpPr>
        <p:spPr>
          <a:xfrm>
            <a:off x="5888736" y="2651760"/>
            <a:ext cx="201168" cy="457200"/>
          </a:xfrm>
          <a:prstGeom prst="rect">
            <a:avLst/>
          </a:prstGeom>
          <a:noFill/>
        </p:spPr>
        <p:txBody>
          <a:bodyPr wrap="square">
            <a:spAutoFit/>
          </a:bodyPr>
          <a:lstStyle/>
          <a:p>
            <a:pPr algn="ctr"/>
            <a:r>
              <a:rPr sz="2000" b="0">
                <a:solidFill>
                  <a:srgbClr val="444A52"/>
                </a:solidFill>
                <a:latin typeface="Calibri"/>
              </a:rPr>
              <a:t>→</a:t>
            </a:r>
          </a:p>
        </p:txBody>
      </p:sp>
      <p:sp>
        <p:nvSpPr>
          <p:cNvPr id="11" name="Rectangle 10"/>
          <p:cNvSpPr/>
          <p:nvPr/>
        </p:nvSpPr>
        <p:spPr>
          <a:xfrm>
            <a:off x="6071616" y="2377440"/>
            <a:ext cx="1691640" cy="109728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SageMaker
Pipeline</a:t>
            </a:r>
          </a:p>
        </p:txBody>
      </p:sp>
      <p:sp>
        <p:nvSpPr>
          <p:cNvPr id="12" name="TextBox 11"/>
          <p:cNvSpPr txBox="1"/>
          <p:nvPr/>
        </p:nvSpPr>
        <p:spPr>
          <a:xfrm>
            <a:off x="7744968" y="2651760"/>
            <a:ext cx="201168" cy="457200"/>
          </a:xfrm>
          <a:prstGeom prst="rect">
            <a:avLst/>
          </a:prstGeom>
          <a:noFill/>
        </p:spPr>
        <p:txBody>
          <a:bodyPr wrap="square">
            <a:spAutoFit/>
          </a:bodyPr>
          <a:lstStyle/>
          <a:p>
            <a:pPr algn="ctr"/>
            <a:r>
              <a:rPr sz="2000" b="0">
                <a:solidFill>
                  <a:srgbClr val="444A52"/>
                </a:solidFill>
                <a:latin typeface="Calibri"/>
              </a:rPr>
              <a:t>→</a:t>
            </a:r>
          </a:p>
        </p:txBody>
      </p:sp>
      <p:sp>
        <p:nvSpPr>
          <p:cNvPr id="13" name="Rectangle 12"/>
          <p:cNvSpPr/>
          <p:nvPr/>
        </p:nvSpPr>
        <p:spPr>
          <a:xfrm>
            <a:off x="7927848" y="2377440"/>
            <a:ext cx="1691640" cy="109728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Model
Registry</a:t>
            </a:r>
          </a:p>
        </p:txBody>
      </p:sp>
      <p:sp>
        <p:nvSpPr>
          <p:cNvPr id="14" name="TextBox 13"/>
          <p:cNvSpPr txBox="1"/>
          <p:nvPr/>
        </p:nvSpPr>
        <p:spPr>
          <a:xfrm>
            <a:off x="9601200" y="2651760"/>
            <a:ext cx="201168" cy="457200"/>
          </a:xfrm>
          <a:prstGeom prst="rect">
            <a:avLst/>
          </a:prstGeom>
          <a:noFill/>
        </p:spPr>
        <p:txBody>
          <a:bodyPr wrap="square">
            <a:spAutoFit/>
          </a:bodyPr>
          <a:lstStyle/>
          <a:p>
            <a:pPr algn="ctr"/>
            <a:r>
              <a:rPr sz="2000" b="0">
                <a:solidFill>
                  <a:srgbClr val="444A52"/>
                </a:solidFill>
                <a:latin typeface="Calibri"/>
              </a:rPr>
              <a:t>→</a:t>
            </a:r>
          </a:p>
        </p:txBody>
      </p:sp>
      <p:sp>
        <p:nvSpPr>
          <p:cNvPr id="15" name="Rectangle 14"/>
          <p:cNvSpPr/>
          <p:nvPr/>
        </p:nvSpPr>
        <p:spPr>
          <a:xfrm>
            <a:off x="9784080" y="2377440"/>
            <a:ext cx="1691640" cy="109728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Batch
Transform</a:t>
            </a:r>
          </a:p>
        </p:txBody>
      </p:sp>
      <p:sp>
        <p:nvSpPr>
          <p:cNvPr id="16" name="Rectangle 15"/>
          <p:cNvSpPr/>
          <p:nvPr/>
        </p:nvSpPr>
        <p:spPr>
          <a:xfrm>
            <a:off x="502920" y="3931920"/>
            <a:ext cx="11064240" cy="8229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069080"/>
            <a:ext cx="10789920" cy="548640"/>
          </a:xfrm>
          <a:prstGeom prst="rect">
            <a:avLst/>
          </a:prstGeom>
          <a:noFill/>
        </p:spPr>
        <p:txBody>
          <a:bodyPr wrap="square">
            <a:spAutoFit/>
          </a:bodyPr>
          <a:lstStyle/>
          <a:p>
            <a:pPr algn="l"/>
            <a:r>
              <a:rPr sz="1600" b="1">
                <a:solidFill>
                  <a:srgbClr val="FFFFFF"/>
                </a:solidFill>
                <a:latin typeface="Calibri"/>
              </a:rPr>
              <a:t>SageMaker Model Monitor  +  CloudWatch   →   data-quality · model-quality · infrastructure dashboards &amp; alarms</a:t>
            </a:r>
          </a:p>
        </p:txBody>
      </p:sp>
      <p:sp>
        <p:nvSpPr>
          <p:cNvPr id="18" name="TextBox 17"/>
          <p:cNvSpPr txBox="1"/>
          <p:nvPr/>
        </p:nvSpPr>
        <p:spPr>
          <a:xfrm>
            <a:off x="502920" y="5029200"/>
            <a:ext cx="10972800" cy="1097280"/>
          </a:xfrm>
          <a:prstGeom prst="rect">
            <a:avLst/>
          </a:prstGeom>
          <a:noFill/>
        </p:spPr>
        <p:txBody>
          <a:bodyPr wrap="square">
            <a:spAutoFit/>
          </a:bodyPr>
          <a:lstStyle/>
          <a:p>
            <a:pPr algn="l"/>
            <a:r>
              <a:rPr sz="1400" b="0">
                <a:solidFill>
                  <a:srgbClr val="444A52"/>
                </a:solidFill>
                <a:latin typeface="Calibri"/>
              </a:rPr>
              <a:t>Leakage control (CVDINFR4, CVDCRHD4, _MICHD excluded) and train-only fit statistics are enforced in every stage. Temporal split (2021+2022 → 2023) simulates deployment on a future year.</a:t>
            </a:r>
          </a:p>
          <a:p>
            <a:pPr algn="l"/>
            <a:r>
              <a:rPr sz="1400" b="0">
                <a:solidFill>
                  <a:srgbClr val="444A52"/>
                </a:solidFill>
                <a:latin typeface="Calibri"/>
              </a:rPr>
              <a:t>Scope note: architecture designed for AWS SageMaker; components shown here as local equivalents (Learner Lab budget exhausted).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spAutoFit/>
          </a:bodyPr>
          <a:lstStyle/>
          <a:p>
            <a:pPr algn="l"/>
            <a:r>
              <a:rPr sz="1300" b="1">
                <a:solidFill>
                  <a:srgbClr val="1A9E8F"/>
                </a:solidFill>
                <a:latin typeface="Calibri"/>
              </a:rPr>
              <a:t>DESIGNED FOR SAGEMAKER FEATURE STORE · SHOWN AS LOCAL EQUIVALENT</a:t>
            </a:r>
          </a:p>
        </p:txBody>
      </p:sp>
      <p:sp>
        <p:nvSpPr>
          <p:cNvPr id="4" name="TextBox 3"/>
          <p:cNvSpPr txBox="1"/>
          <p:nvPr/>
        </p:nvSpPr>
        <p:spPr>
          <a:xfrm>
            <a:off x="457200" y="384048"/>
            <a:ext cx="11247120" cy="640080"/>
          </a:xfrm>
          <a:prstGeom prst="rect">
            <a:avLst/>
          </a:prstGeom>
          <a:noFill/>
        </p:spPr>
        <p:txBody>
          <a:bodyPr wrap="square">
            <a:spAutoFit/>
          </a:bodyPr>
          <a:lstStyle/>
          <a:p>
            <a:pPr algn="l"/>
            <a:r>
              <a:rPr sz="2700" b="1">
                <a:solidFill>
                  <a:srgbClr val="FFFFFF"/>
                </a:solidFill>
                <a:latin typeface="Calibri"/>
              </a:rPr>
              <a:t>Feature Store &amp; Feature Groups</a:t>
            </a:r>
          </a:p>
        </p:txBody>
      </p:sp>
      <p:sp>
        <p:nvSpPr>
          <p:cNvPr id="5" name="TextBox 4"/>
          <p:cNvSpPr txBox="1"/>
          <p:nvPr/>
        </p:nvSpPr>
        <p:spPr>
          <a:xfrm>
            <a:off x="640080" y="1371600"/>
            <a:ext cx="5760720" cy="4846320"/>
          </a:xfrm>
          <a:prstGeom prst="rect">
            <a:avLst/>
          </a:prstGeom>
          <a:noFill/>
        </p:spPr>
        <p:txBody>
          <a:bodyPr wrap="square">
            <a:spAutoFit/>
          </a:bodyPr>
          <a:lstStyle/>
          <a:p>
            <a:pPr>
              <a:spcAft>
                <a:spcPts val="600"/>
              </a:spcAft>
            </a:pPr>
            <a:r>
              <a:rPr sz="1700">
                <a:solidFill>
                  <a:srgbClr val="444A52"/>
                </a:solidFill>
                <a:latin typeface="Calibri"/>
              </a:rPr>
              <a:t>• Feature group: heart-disease-features</a:t>
            </a:r>
          </a:p>
          <a:p>
            <a:pPr>
              <a:spcAft>
                <a:spcPts val="600"/>
              </a:spcAft>
            </a:pPr>
            <a:r>
              <a:rPr sz="1700">
                <a:solidFill>
                  <a:srgbClr val="444A52"/>
                </a:solidFill>
                <a:latin typeface="Calibri"/>
              </a:rPr>
              <a:t>• 15 features, shared across 2021 / 2022 / 2023</a:t>
            </a:r>
          </a:p>
          <a:p>
            <a:pPr>
              <a:spcAft>
                <a:spcPts val="600"/>
              </a:spcAft>
            </a:pPr>
            <a:r>
              <a:rPr sz="1700">
                <a:solidFill>
                  <a:srgbClr val="444A52"/>
                </a:solidFill>
                <a:latin typeface="Calibri"/>
              </a:rPr>
              <a:t>• Record identifier + event time per row</a:t>
            </a:r>
          </a:p>
          <a:p>
            <a:pPr>
              <a:spcAft>
                <a:spcPts val="600"/>
              </a:spcAft>
            </a:pPr>
            <a:r>
              <a:rPr sz="1700">
                <a:solidFill>
                  <a:srgbClr val="444A52"/>
                </a:solidFill>
                <a:latin typeface="Calibri"/>
              </a:rPr>
              <a:t>• Leakage columns excluded by design</a:t>
            </a:r>
          </a:p>
          <a:p>
            <a:pPr>
              <a:spcAft>
                <a:spcPts val="600"/>
              </a:spcAft>
            </a:pPr>
            <a:r>
              <a:rPr sz="1700">
                <a:solidFill>
                  <a:srgbClr val="444A52"/>
                </a:solidFill>
                <a:latin typeface="Calibri"/>
              </a:rPr>
              <a:t>• Same features used for training AND inference</a:t>
            </a:r>
          </a:p>
          <a:p>
            <a:pPr>
              <a:spcAft>
                <a:spcPts val="600"/>
              </a:spcAft>
            </a:pPr>
            <a:r>
              <a:rPr sz="1700">
                <a:solidFill>
                  <a:srgbClr val="444A52"/>
                </a:solidFill>
                <a:latin typeface="Calibri"/>
              </a:rPr>
              <a:t>• Guarantees train / serve consistency</a:t>
            </a:r>
          </a:p>
        </p:txBody>
      </p:sp>
      <p:sp>
        <p:nvSpPr>
          <p:cNvPr id="6" name="Rectangle 5"/>
          <p:cNvSpPr/>
          <p:nvPr/>
        </p:nvSpPr>
        <p:spPr>
          <a:xfrm>
            <a:off x="6583680" y="1463040"/>
            <a:ext cx="4937760" cy="429768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12280" y="1627632"/>
            <a:ext cx="4572000" cy="457200"/>
          </a:xfrm>
          <a:prstGeom prst="rect">
            <a:avLst/>
          </a:prstGeom>
          <a:noFill/>
        </p:spPr>
        <p:txBody>
          <a:bodyPr wrap="square">
            <a:spAutoFit/>
          </a:bodyPr>
          <a:lstStyle/>
          <a:p>
            <a:pPr algn="l"/>
            <a:r>
              <a:rPr sz="1700" b="1">
                <a:solidFill>
                  <a:srgbClr val="0B1F3A"/>
                </a:solidFill>
                <a:latin typeface="Calibri"/>
              </a:rPr>
              <a:t>The 15 features</a:t>
            </a:r>
          </a:p>
        </p:txBody>
      </p:sp>
      <p:sp>
        <p:nvSpPr>
          <p:cNvPr id="8" name="TextBox 7"/>
          <p:cNvSpPr txBox="1"/>
          <p:nvPr/>
        </p:nvSpPr>
        <p:spPr>
          <a:xfrm>
            <a:off x="6812280" y="2148840"/>
            <a:ext cx="4572000" cy="3566160"/>
          </a:xfrm>
          <a:prstGeom prst="rect">
            <a:avLst/>
          </a:prstGeom>
          <a:noFill/>
        </p:spPr>
        <p:txBody>
          <a:bodyPr wrap="square">
            <a:spAutoFit/>
          </a:bodyPr>
          <a:lstStyle/>
          <a:p>
            <a:pPr>
              <a:spcAft>
                <a:spcPts val="600"/>
              </a:spcAft>
            </a:pPr>
            <a:r>
              <a:rPr sz="1400">
                <a:solidFill>
                  <a:srgbClr val="444A52"/>
                </a:solidFill>
                <a:latin typeface="Calibri"/>
              </a:rPr>
              <a:t>• Continuous: bmi, mental_health_days, phys_health_days</a:t>
            </a:r>
          </a:p>
          <a:p>
            <a:pPr>
              <a:spcAft>
                <a:spcPts val="600"/>
              </a:spcAft>
            </a:pPr>
            <a:r>
              <a:rPr sz="1400">
                <a:solidFill>
                  <a:srgbClr val="444A52"/>
                </a:solidFill>
                <a:latin typeface="Calibri"/>
              </a:rPr>
              <a:t>• Demographics: age_group, sex, income_group, education_group</a:t>
            </a:r>
          </a:p>
          <a:p>
            <a:pPr>
              <a:spcAft>
                <a:spcPts val="600"/>
              </a:spcAft>
            </a:pPr>
            <a:r>
              <a:rPr sz="1400">
                <a:solidFill>
                  <a:srgbClr val="444A52"/>
                </a:solidFill>
                <a:latin typeface="Calibri"/>
              </a:rPr>
              <a:t>• Health: gen_health, diabetes, kidney_disease, diff_walk</a:t>
            </a:r>
          </a:p>
          <a:p>
            <a:pPr>
              <a:spcAft>
                <a:spcPts val="600"/>
              </a:spcAft>
            </a:pPr>
            <a:r>
              <a:rPr sz="1400">
                <a:solidFill>
                  <a:srgbClr val="444A52"/>
                </a:solidFill>
                <a:latin typeface="Calibri"/>
              </a:rPr>
              <a:t>• Lifestyle: smoked_100, smoker_status, phys_activity</a:t>
            </a:r>
          </a:p>
          <a:p>
            <a:pPr>
              <a:spcAft>
                <a:spcPts val="600"/>
              </a:spcAft>
            </a:pPr>
            <a:r>
              <a:rPr sz="1400">
                <a:solidFill>
                  <a:srgbClr val="444A52"/>
                </a:solidFill>
                <a:latin typeface="Calibri"/>
              </a:rPr>
              <a:t>• Access: has_personal_doctor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spAutoFit/>
          </a:bodyPr>
          <a:lstStyle/>
          <a:p>
            <a:pPr algn="l"/>
            <a:r>
              <a:rPr sz="1300" b="1">
                <a:solidFill>
                  <a:srgbClr val="1A9E8F"/>
                </a:solidFill>
                <a:latin typeface="Calibri"/>
              </a:rPr>
              <a:t>DESIGNED FOR CLOUDWATCH · SHOWN AS LOCAL EQUIVALENT</a:t>
            </a:r>
          </a:p>
        </p:txBody>
      </p:sp>
      <p:sp>
        <p:nvSpPr>
          <p:cNvPr id="4" name="TextBox 3"/>
          <p:cNvSpPr txBox="1"/>
          <p:nvPr/>
        </p:nvSpPr>
        <p:spPr>
          <a:xfrm>
            <a:off x="457200" y="384048"/>
            <a:ext cx="11247120" cy="640080"/>
          </a:xfrm>
          <a:prstGeom prst="rect">
            <a:avLst/>
          </a:prstGeom>
          <a:noFill/>
        </p:spPr>
        <p:txBody>
          <a:bodyPr wrap="square">
            <a:spAutoFit/>
          </a:bodyPr>
          <a:lstStyle/>
          <a:p>
            <a:pPr algn="l"/>
            <a:r>
              <a:rPr sz="2700" b="1">
                <a:solidFill>
                  <a:srgbClr val="FFFFFF"/>
                </a:solidFill>
                <a:latin typeface="Calibri"/>
              </a:rPr>
              <a:t>Infrastructure Monitoring</a:t>
            </a:r>
          </a:p>
        </p:txBody>
      </p:sp>
      <p:sp>
        <p:nvSpPr>
          <p:cNvPr id="5" name="TextBox 4"/>
          <p:cNvSpPr txBox="1"/>
          <p:nvPr/>
        </p:nvSpPr>
        <p:spPr>
          <a:xfrm>
            <a:off x="640080" y="1371600"/>
            <a:ext cx="5760720" cy="4846320"/>
          </a:xfrm>
          <a:prstGeom prst="rect">
            <a:avLst/>
          </a:prstGeom>
          <a:noFill/>
        </p:spPr>
        <p:txBody>
          <a:bodyPr wrap="square">
            <a:spAutoFit/>
          </a:bodyPr>
          <a:lstStyle/>
          <a:p>
            <a:pPr>
              <a:spcAft>
                <a:spcPts val="600"/>
              </a:spcAft>
            </a:pPr>
            <a:r>
              <a:rPr sz="1700">
                <a:solidFill>
                  <a:srgbClr val="444A52"/>
                </a:solidFill>
                <a:latin typeface="Calibri"/>
              </a:rPr>
              <a:t>• Job success / failure for every stage</a:t>
            </a:r>
          </a:p>
          <a:p>
            <a:pPr>
              <a:spcAft>
                <a:spcPts val="600"/>
              </a:spcAft>
            </a:pPr>
            <a:r>
              <a:rPr sz="1700">
                <a:solidFill>
                  <a:srgbClr val="444A52"/>
                </a:solidFill>
                <a:latin typeface="Calibri"/>
              </a:rPr>
              <a:t>• Runtime / duration per stage</a:t>
            </a:r>
          </a:p>
          <a:p>
            <a:pPr>
              <a:spcAft>
                <a:spcPts val="600"/>
              </a:spcAft>
            </a:pPr>
            <a:r>
              <a:rPr sz="1700">
                <a:solidFill>
                  <a:srgbClr val="444A52"/>
                </a:solidFill>
                <a:latin typeface="Calibri"/>
              </a:rPr>
              <a:t>• CPU &amp; memory utilisation (ml.m5.large)</a:t>
            </a:r>
          </a:p>
          <a:p>
            <a:pPr>
              <a:spcAft>
                <a:spcPts val="600"/>
              </a:spcAft>
            </a:pPr>
            <a:r>
              <a:rPr sz="1700">
                <a:solidFill>
                  <a:srgbClr val="444A52"/>
                </a:solidFill>
                <a:latin typeface="Calibri"/>
              </a:rPr>
              <a:t>• Error-rate and invocation counts</a:t>
            </a:r>
          </a:p>
          <a:p>
            <a:pPr>
              <a:spcAft>
                <a:spcPts val="600"/>
              </a:spcAft>
            </a:pPr>
            <a:r>
              <a:rPr sz="1700">
                <a:solidFill>
                  <a:srgbClr val="444A52"/>
                </a:solidFill>
                <a:latin typeface="Calibri"/>
              </a:rPr>
              <a:t>• Automated alarms on failure or runtime breach</a:t>
            </a:r>
          </a:p>
          <a:p>
            <a:pPr>
              <a:spcAft>
                <a:spcPts val="600"/>
              </a:spcAft>
            </a:pPr>
            <a:r>
              <a:rPr sz="1700">
                <a:solidFill>
                  <a:srgbClr val="444A52"/>
                </a:solidFill>
                <a:latin typeface="Calibri"/>
              </a:rPr>
              <a:t>• Answers: did the pipeline run cleanly this cycle?</a:t>
            </a:r>
          </a:p>
        </p:txBody>
      </p:sp>
      <p:sp>
        <p:nvSpPr>
          <p:cNvPr id="6" name="Rectangle 5"/>
          <p:cNvSpPr/>
          <p:nvPr/>
        </p:nvSpPr>
        <p:spPr>
          <a:xfrm>
            <a:off x="6583680" y="1463040"/>
            <a:ext cx="4937760" cy="429768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12280" y="1627632"/>
            <a:ext cx="4572000" cy="457200"/>
          </a:xfrm>
          <a:prstGeom prst="rect">
            <a:avLst/>
          </a:prstGeom>
          <a:noFill/>
        </p:spPr>
        <p:txBody>
          <a:bodyPr wrap="square">
            <a:spAutoFit/>
          </a:bodyPr>
          <a:lstStyle/>
          <a:p>
            <a:pPr algn="l"/>
            <a:r>
              <a:rPr sz="1700" b="1">
                <a:solidFill>
                  <a:srgbClr val="0B1F3A"/>
                </a:solidFill>
                <a:latin typeface="Calibri"/>
              </a:rPr>
              <a:t>What we watch &amp; why</a:t>
            </a:r>
          </a:p>
        </p:txBody>
      </p:sp>
      <p:sp>
        <p:nvSpPr>
          <p:cNvPr id="8" name="TextBox 7"/>
          <p:cNvSpPr txBox="1"/>
          <p:nvPr/>
        </p:nvSpPr>
        <p:spPr>
          <a:xfrm>
            <a:off x="6812280" y="2148840"/>
            <a:ext cx="4572000" cy="3566160"/>
          </a:xfrm>
          <a:prstGeom prst="rect">
            <a:avLst/>
          </a:prstGeom>
          <a:noFill/>
        </p:spPr>
        <p:txBody>
          <a:bodyPr wrap="square">
            <a:spAutoFit/>
          </a:bodyPr>
          <a:lstStyle/>
          <a:p>
            <a:pPr>
              <a:spcAft>
                <a:spcPts val="600"/>
              </a:spcAft>
            </a:pPr>
            <a:r>
              <a:rPr sz="1400">
                <a:solidFill>
                  <a:srgbClr val="444A52"/>
                </a:solidFill>
                <a:latin typeface="Calibri"/>
              </a:rPr>
              <a:t>• Success/failure → catch broken cycles fast</a:t>
            </a:r>
          </a:p>
          <a:p>
            <a:pPr>
              <a:spcAft>
                <a:spcPts val="600"/>
              </a:spcAft>
            </a:pPr>
            <a:r>
              <a:rPr sz="1400">
                <a:solidFill>
                  <a:srgbClr val="444A52"/>
                </a:solidFill>
                <a:latin typeface="Calibri"/>
              </a:rPr>
              <a:t>• Duration → spot slow-downs &amp; cost creep</a:t>
            </a:r>
          </a:p>
          <a:p>
            <a:pPr>
              <a:spcAft>
                <a:spcPts val="600"/>
              </a:spcAft>
            </a:pPr>
            <a:r>
              <a:rPr sz="1400">
                <a:solidFill>
                  <a:srgbClr val="444A52"/>
                </a:solidFill>
                <a:latin typeface="Calibri"/>
              </a:rPr>
              <a:t>• CPU / memory → right-size the instance</a:t>
            </a:r>
          </a:p>
          <a:p>
            <a:pPr>
              <a:spcAft>
                <a:spcPts val="600"/>
              </a:spcAft>
            </a:pPr>
            <a:r>
              <a:rPr sz="1400">
                <a:solidFill>
                  <a:srgbClr val="444A52"/>
                </a:solidFill>
                <a:latin typeface="Calibri"/>
              </a:rPr>
              <a:t>• Errors → surface data or code faults</a:t>
            </a:r>
          </a:p>
          <a:p>
            <a:pPr>
              <a:spcAft>
                <a:spcPts val="600"/>
              </a:spcAft>
            </a:pPr>
            <a:r>
              <a:rPr sz="1400">
                <a:solidFill>
                  <a:srgbClr val="444A52"/>
                </a:solidFill>
                <a:latin typeface="Calibri"/>
              </a:rPr>
              <a:t>• Alarm → notify on-call without manual checks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spAutoFit/>
          </a:bodyPr>
          <a:lstStyle/>
          <a:p>
            <a:pPr algn="l"/>
            <a:r>
              <a:rPr sz="1300" b="1">
                <a:solidFill>
                  <a:srgbClr val="1A9E8F"/>
                </a:solidFill>
                <a:latin typeface="Calibri"/>
              </a:rPr>
              <a:t>DESIGNED FOR SAGEMAKER MODEL MONITOR · SHOWN AS LOCAL EQUIVALENT</a:t>
            </a:r>
          </a:p>
        </p:txBody>
      </p:sp>
      <p:sp>
        <p:nvSpPr>
          <p:cNvPr id="4" name="TextBox 3"/>
          <p:cNvSpPr txBox="1"/>
          <p:nvPr/>
        </p:nvSpPr>
        <p:spPr>
          <a:xfrm>
            <a:off x="457200" y="384048"/>
            <a:ext cx="11247120" cy="640080"/>
          </a:xfrm>
          <a:prstGeom prst="rect">
            <a:avLst/>
          </a:prstGeom>
          <a:noFill/>
        </p:spPr>
        <p:txBody>
          <a:bodyPr wrap="square">
            <a:spAutoFit/>
          </a:bodyPr>
          <a:lstStyle/>
          <a:p>
            <a:pPr algn="l"/>
            <a:r>
              <a:rPr sz="2700" b="1">
                <a:solidFill>
                  <a:srgbClr val="FFFFFF"/>
                </a:solidFill>
                <a:latin typeface="Calibri"/>
              </a:rPr>
              <a:t>Model &amp; Data Monitoring</a:t>
            </a:r>
          </a:p>
        </p:txBody>
      </p:sp>
      <p:pic>
        <p:nvPicPr>
          <p:cNvPr id="5" name="Picture 4" descr="09_pr_curve.png"/>
          <p:cNvPicPr>
            <a:picLocks noChangeAspect="1"/>
          </p:cNvPicPr>
          <p:nvPr/>
        </p:nvPicPr>
        <p:blipFill>
          <a:blip r:embed="rId3"/>
          <a:stretch>
            <a:fillRect/>
          </a:stretch>
        </p:blipFill>
        <p:spPr>
          <a:xfrm>
            <a:off x="502920" y="1371600"/>
            <a:ext cx="3154924" cy="3200400"/>
          </a:xfrm>
          <a:prstGeom prst="rect">
            <a:avLst/>
          </a:prstGeom>
        </p:spPr>
      </p:pic>
      <p:pic>
        <p:nvPicPr>
          <p:cNvPr id="6" name="Picture 5" descr="12_subgroup_performance.png"/>
          <p:cNvPicPr>
            <a:picLocks noChangeAspect="1"/>
          </p:cNvPicPr>
          <p:nvPr/>
        </p:nvPicPr>
        <p:blipFill>
          <a:blip r:embed="rId4"/>
          <a:stretch>
            <a:fillRect/>
          </a:stretch>
        </p:blipFill>
        <p:spPr>
          <a:xfrm>
            <a:off x="6217920" y="1371600"/>
            <a:ext cx="5211156" cy="3200400"/>
          </a:xfrm>
          <a:prstGeom prst="rect">
            <a:avLst/>
          </a:prstGeom>
        </p:spPr>
      </p:pic>
      <p:sp>
        <p:nvSpPr>
          <p:cNvPr id="7" name="TextBox 6"/>
          <p:cNvSpPr txBox="1"/>
          <p:nvPr/>
        </p:nvSpPr>
        <p:spPr>
          <a:xfrm>
            <a:off x="502920" y="4754880"/>
            <a:ext cx="11064240" cy="1737360"/>
          </a:xfrm>
          <a:prstGeom prst="rect">
            <a:avLst/>
          </a:prstGeom>
          <a:noFill/>
        </p:spPr>
        <p:txBody>
          <a:bodyPr wrap="square">
            <a:spAutoFit/>
          </a:bodyPr>
          <a:lstStyle/>
          <a:p>
            <a:pPr>
              <a:spcAft>
                <a:spcPts val="600"/>
              </a:spcAft>
            </a:pPr>
            <a:r>
              <a:rPr sz="1600">
                <a:solidFill>
                  <a:srgbClr val="444A52"/>
                </a:solidFill>
                <a:latin typeface="Calibri"/>
              </a:rPr>
              <a:t>• Model quality: recall, PR-AUC, calibration (Brier) vs agreed floor</a:t>
            </a:r>
          </a:p>
          <a:p>
            <a:pPr>
              <a:spcAft>
                <a:spcPts val="600"/>
              </a:spcAft>
            </a:pPr>
            <a:r>
              <a:rPr sz="1600">
                <a:solidFill>
                  <a:srgbClr val="444A52"/>
                </a:solidFill>
                <a:latin typeface="Calibri"/>
              </a:rPr>
              <a:t>• Data quality: feature-distribution &amp; missingness drift (PSI) vs baseline</a:t>
            </a:r>
          </a:p>
          <a:p>
            <a:pPr>
              <a:spcAft>
                <a:spcPts val="600"/>
              </a:spcAft>
            </a:pPr>
            <a:r>
              <a:rPr sz="1600">
                <a:solidFill>
                  <a:srgbClr val="444A52"/>
                </a:solidFill>
                <a:latin typeface="Calibri"/>
              </a:rPr>
              <a:t>• Fairness drift: subgroup recall by sex and age re-checked each cycle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spAutoFit/>
          </a:bodyPr>
          <a:lstStyle/>
          <a:p>
            <a:pPr algn="l"/>
            <a:r>
              <a:rPr sz="1300" b="1">
                <a:solidFill>
                  <a:srgbClr val="1A9E8F"/>
                </a:solidFill>
                <a:latin typeface="Calibri"/>
              </a:rPr>
              <a:t>DESIGNED FOR SAGEMAKER PIPELINES · SHOWN AS LOCAL EQUIVALENT</a:t>
            </a:r>
          </a:p>
        </p:txBody>
      </p:sp>
      <p:sp>
        <p:nvSpPr>
          <p:cNvPr id="4" name="TextBox 3"/>
          <p:cNvSpPr txBox="1"/>
          <p:nvPr/>
        </p:nvSpPr>
        <p:spPr>
          <a:xfrm>
            <a:off x="457200" y="384048"/>
            <a:ext cx="11247120" cy="640080"/>
          </a:xfrm>
          <a:prstGeom prst="rect">
            <a:avLst/>
          </a:prstGeom>
          <a:noFill/>
        </p:spPr>
        <p:txBody>
          <a:bodyPr wrap="square">
            <a:spAutoFit/>
          </a:bodyPr>
          <a:lstStyle/>
          <a:p>
            <a:pPr algn="l"/>
            <a:r>
              <a:rPr sz="2700" b="1">
                <a:solidFill>
                  <a:srgbClr val="FFFFFF"/>
                </a:solidFill>
                <a:latin typeface="Calibri"/>
              </a:rPr>
              <a:t>CI/CD Pipeline: Successful &amp; Failed Runs</a:t>
            </a:r>
          </a:p>
        </p:txBody>
      </p:sp>
      <p:sp>
        <p:nvSpPr>
          <p:cNvPr id="5" name="TextBox 4"/>
          <p:cNvSpPr txBox="1"/>
          <p:nvPr/>
        </p:nvSpPr>
        <p:spPr>
          <a:xfrm>
            <a:off x="822960" y="1325880"/>
            <a:ext cx="4572000" cy="365760"/>
          </a:xfrm>
          <a:prstGeom prst="rect">
            <a:avLst/>
          </a:prstGeom>
          <a:noFill/>
        </p:spPr>
        <p:txBody>
          <a:bodyPr wrap="square">
            <a:spAutoFit/>
          </a:bodyPr>
          <a:lstStyle/>
          <a:p>
            <a:pPr algn="l"/>
            <a:r>
              <a:rPr sz="1600" b="1">
                <a:solidFill>
                  <a:srgbClr val="1A9E8F"/>
                </a:solidFill>
                <a:latin typeface="Calibri"/>
              </a:rPr>
              <a:t>SUCCESSFUL RUN</a:t>
            </a:r>
          </a:p>
        </p:txBody>
      </p:sp>
      <p:sp>
        <p:nvSpPr>
          <p:cNvPr id="6" name="Rectangle 5"/>
          <p:cNvSpPr/>
          <p:nvPr/>
        </p:nvSpPr>
        <p:spPr>
          <a:xfrm>
            <a:off x="822960" y="1783080"/>
            <a:ext cx="4297680" cy="45720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Schema validate ✓</a:t>
            </a:r>
          </a:p>
        </p:txBody>
      </p:sp>
      <p:sp>
        <p:nvSpPr>
          <p:cNvPr id="7" name="Rectangle 6"/>
          <p:cNvSpPr/>
          <p:nvPr/>
        </p:nvSpPr>
        <p:spPr>
          <a:xfrm>
            <a:off x="822960" y="2386584"/>
            <a:ext cx="4297680" cy="45720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Processing ✓</a:t>
            </a:r>
          </a:p>
        </p:txBody>
      </p:sp>
      <p:sp>
        <p:nvSpPr>
          <p:cNvPr id="8" name="Rectangle 7"/>
          <p:cNvSpPr/>
          <p:nvPr/>
        </p:nvSpPr>
        <p:spPr>
          <a:xfrm>
            <a:off x="822960" y="2990088"/>
            <a:ext cx="4297680" cy="45720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Feature ingest ✓</a:t>
            </a:r>
          </a:p>
        </p:txBody>
      </p:sp>
      <p:sp>
        <p:nvSpPr>
          <p:cNvPr id="9" name="Rectangle 8"/>
          <p:cNvSpPr/>
          <p:nvPr/>
        </p:nvSpPr>
        <p:spPr>
          <a:xfrm>
            <a:off x="822960" y="3593592"/>
            <a:ext cx="4297680" cy="45720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Training ✓</a:t>
            </a:r>
          </a:p>
        </p:txBody>
      </p:sp>
      <p:sp>
        <p:nvSpPr>
          <p:cNvPr id="10" name="Rectangle 9"/>
          <p:cNvSpPr/>
          <p:nvPr/>
        </p:nvSpPr>
        <p:spPr>
          <a:xfrm>
            <a:off x="822960" y="4197096"/>
            <a:ext cx="4297680" cy="45720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Evaluation gate ✓</a:t>
            </a:r>
          </a:p>
        </p:txBody>
      </p:sp>
      <p:sp>
        <p:nvSpPr>
          <p:cNvPr id="11" name="Rectangle 10"/>
          <p:cNvSpPr/>
          <p:nvPr/>
        </p:nvSpPr>
        <p:spPr>
          <a:xfrm>
            <a:off x="822960" y="4800600"/>
            <a:ext cx="4297680" cy="45720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Register model ✓</a:t>
            </a:r>
          </a:p>
        </p:txBody>
      </p:sp>
      <p:sp>
        <p:nvSpPr>
          <p:cNvPr id="12" name="Rectangle 11"/>
          <p:cNvSpPr/>
          <p:nvPr/>
        </p:nvSpPr>
        <p:spPr>
          <a:xfrm>
            <a:off x="822960" y="5404104"/>
            <a:ext cx="4297680" cy="45720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Batch transform ✓</a:t>
            </a:r>
          </a:p>
        </p:txBody>
      </p:sp>
      <p:sp>
        <p:nvSpPr>
          <p:cNvPr id="13" name="TextBox 12"/>
          <p:cNvSpPr txBox="1"/>
          <p:nvPr/>
        </p:nvSpPr>
        <p:spPr>
          <a:xfrm>
            <a:off x="6675120" y="1325880"/>
            <a:ext cx="4572000" cy="365760"/>
          </a:xfrm>
          <a:prstGeom prst="rect">
            <a:avLst/>
          </a:prstGeom>
          <a:noFill/>
        </p:spPr>
        <p:txBody>
          <a:bodyPr wrap="square">
            <a:spAutoFit/>
          </a:bodyPr>
          <a:lstStyle/>
          <a:p>
            <a:pPr algn="l"/>
            <a:r>
              <a:rPr sz="1600" b="1">
                <a:solidFill>
                  <a:srgbClr val="C0392B"/>
                </a:solidFill>
                <a:latin typeface="Calibri"/>
              </a:rPr>
              <a:t>FAILED RUN</a:t>
            </a:r>
          </a:p>
        </p:txBody>
      </p:sp>
      <p:sp>
        <p:nvSpPr>
          <p:cNvPr id="14" name="Rectangle 13"/>
          <p:cNvSpPr/>
          <p:nvPr/>
        </p:nvSpPr>
        <p:spPr>
          <a:xfrm>
            <a:off x="6675120" y="1783080"/>
            <a:ext cx="429768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Schema validate ✓</a:t>
            </a:r>
          </a:p>
        </p:txBody>
      </p:sp>
      <p:sp>
        <p:nvSpPr>
          <p:cNvPr id="15" name="Rectangle 14"/>
          <p:cNvSpPr/>
          <p:nvPr/>
        </p:nvSpPr>
        <p:spPr>
          <a:xfrm>
            <a:off x="6675120" y="2386584"/>
            <a:ext cx="429768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Processing ✓</a:t>
            </a:r>
          </a:p>
        </p:txBody>
      </p:sp>
      <p:sp>
        <p:nvSpPr>
          <p:cNvPr id="16" name="Rectangle 15"/>
          <p:cNvSpPr/>
          <p:nvPr/>
        </p:nvSpPr>
        <p:spPr>
          <a:xfrm>
            <a:off x="6675120" y="2990088"/>
            <a:ext cx="429768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Feature ingest ✓</a:t>
            </a:r>
          </a:p>
        </p:txBody>
      </p:sp>
      <p:sp>
        <p:nvSpPr>
          <p:cNvPr id="17" name="Rectangle 16"/>
          <p:cNvSpPr/>
          <p:nvPr/>
        </p:nvSpPr>
        <p:spPr>
          <a:xfrm>
            <a:off x="6675120" y="3593592"/>
            <a:ext cx="429768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Training ✓</a:t>
            </a:r>
          </a:p>
        </p:txBody>
      </p:sp>
      <p:sp>
        <p:nvSpPr>
          <p:cNvPr id="18" name="Rectangle 17"/>
          <p:cNvSpPr/>
          <p:nvPr/>
        </p:nvSpPr>
        <p:spPr>
          <a:xfrm>
            <a:off x="6675120" y="4197096"/>
            <a:ext cx="429768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Evaluation gate — FAILS HERE</a:t>
            </a:r>
          </a:p>
        </p:txBody>
      </p:sp>
      <p:sp>
        <p:nvSpPr>
          <p:cNvPr id="19" name="Rectangle 18"/>
          <p:cNvSpPr/>
          <p:nvPr/>
        </p:nvSpPr>
        <p:spPr>
          <a:xfrm>
            <a:off x="6675120" y="4800600"/>
            <a:ext cx="4297680" cy="457200"/>
          </a:xfrm>
          <a:prstGeom prst="rect">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Register model (skipped)</a:t>
            </a:r>
          </a:p>
        </p:txBody>
      </p:sp>
      <p:sp>
        <p:nvSpPr>
          <p:cNvPr id="20" name="Rectangle 19"/>
          <p:cNvSpPr/>
          <p:nvPr/>
        </p:nvSpPr>
        <p:spPr>
          <a:xfrm>
            <a:off x="6675120" y="5404104"/>
            <a:ext cx="4297680" cy="457200"/>
          </a:xfrm>
          <a:prstGeom prst="rect">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Batch transform (skipped)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spAutoFit/>
          </a:bodyPr>
          <a:lstStyle/>
          <a:p>
            <a:pPr algn="l"/>
            <a:r>
              <a:rPr sz="1300" b="1">
                <a:solidFill>
                  <a:srgbClr val="1A9E8F"/>
                </a:solidFill>
                <a:latin typeface="Calibri"/>
              </a:rPr>
              <a:t>DESIGNED FOR SAGEMAKER MODEL REGISTRY · SHOWN AS LOCAL EQUIVALENT</a:t>
            </a:r>
          </a:p>
        </p:txBody>
      </p:sp>
      <p:sp>
        <p:nvSpPr>
          <p:cNvPr id="4" name="TextBox 3"/>
          <p:cNvSpPr txBox="1"/>
          <p:nvPr/>
        </p:nvSpPr>
        <p:spPr>
          <a:xfrm>
            <a:off x="457200" y="384048"/>
            <a:ext cx="11247120" cy="640080"/>
          </a:xfrm>
          <a:prstGeom prst="rect">
            <a:avLst/>
          </a:prstGeom>
          <a:noFill/>
        </p:spPr>
        <p:txBody>
          <a:bodyPr wrap="square">
            <a:spAutoFit/>
          </a:bodyPr>
          <a:lstStyle/>
          <a:p>
            <a:pPr algn="l"/>
            <a:r>
              <a:rPr sz="2700" b="1">
                <a:solidFill>
                  <a:srgbClr val="FFFFFF"/>
                </a:solidFill>
                <a:latin typeface="Calibri"/>
              </a:rPr>
              <a:t>Model Registry</a:t>
            </a:r>
          </a:p>
        </p:txBody>
      </p:sp>
      <p:sp>
        <p:nvSpPr>
          <p:cNvPr id="5" name="TextBox 4"/>
          <p:cNvSpPr txBox="1"/>
          <p:nvPr/>
        </p:nvSpPr>
        <p:spPr>
          <a:xfrm>
            <a:off x="640080" y="1371600"/>
            <a:ext cx="5760720" cy="4846320"/>
          </a:xfrm>
          <a:prstGeom prst="rect">
            <a:avLst/>
          </a:prstGeom>
          <a:noFill/>
        </p:spPr>
        <p:txBody>
          <a:bodyPr wrap="square">
            <a:spAutoFit/>
          </a:bodyPr>
          <a:lstStyle/>
          <a:p>
            <a:pPr>
              <a:spcAft>
                <a:spcPts val="600"/>
              </a:spcAft>
            </a:pPr>
            <a:r>
              <a:rPr sz="1700">
                <a:solidFill>
                  <a:srgbClr val="444A52"/>
                </a:solidFill>
                <a:latin typeface="Calibri"/>
              </a:rPr>
              <a:t>• Model package group: heart-disease-screening</a:t>
            </a:r>
          </a:p>
          <a:p>
            <a:pPr>
              <a:spcAft>
                <a:spcPts val="600"/>
              </a:spcAft>
            </a:pPr>
            <a:r>
              <a:rPr sz="1700">
                <a:solidFill>
                  <a:srgbClr val="444A52"/>
                </a:solidFill>
                <a:latin typeface="Calibri"/>
              </a:rPr>
              <a:t>• Versioned models, each with captured metrics</a:t>
            </a:r>
          </a:p>
          <a:p>
            <a:pPr>
              <a:spcAft>
                <a:spcPts val="600"/>
              </a:spcAft>
            </a:pPr>
            <a:r>
              <a:rPr sz="1700">
                <a:solidFill>
                  <a:srgbClr val="444A52"/>
                </a:solidFill>
                <a:latin typeface="Calibri"/>
              </a:rPr>
              <a:t>• Selected: XGBoost  (PR-AUC 0.321, recall 0.819)</a:t>
            </a:r>
          </a:p>
          <a:p>
            <a:pPr>
              <a:spcAft>
                <a:spcPts val="600"/>
              </a:spcAft>
            </a:pPr>
            <a:r>
              <a:rPr sz="1700">
                <a:solidFill>
                  <a:srgbClr val="444A52"/>
                </a:solidFill>
                <a:latin typeface="Calibri"/>
              </a:rPr>
              <a:t>• Approval status gates deployment</a:t>
            </a:r>
          </a:p>
          <a:p>
            <a:pPr>
              <a:spcAft>
                <a:spcPts val="600"/>
              </a:spcAft>
            </a:pPr>
            <a:r>
              <a:rPr sz="1700">
                <a:solidFill>
                  <a:srgbClr val="444A52"/>
                </a:solidFill>
                <a:latin typeface="Calibri"/>
              </a:rPr>
              <a:t>• Full lineage: data → features → training → model</a:t>
            </a:r>
          </a:p>
          <a:p>
            <a:pPr>
              <a:spcAft>
                <a:spcPts val="600"/>
              </a:spcAft>
            </a:pPr>
            <a:r>
              <a:rPr sz="1700">
                <a:solidFill>
                  <a:srgbClr val="444A52"/>
                </a:solidFill>
                <a:latin typeface="Calibri"/>
              </a:rPr>
              <a:t>• One-click rollback to a prior approved version</a:t>
            </a:r>
          </a:p>
        </p:txBody>
      </p:sp>
      <p:sp>
        <p:nvSpPr>
          <p:cNvPr id="6" name="Rectangle 5"/>
          <p:cNvSpPr/>
          <p:nvPr/>
        </p:nvSpPr>
        <p:spPr>
          <a:xfrm>
            <a:off x="6583680" y="1463040"/>
            <a:ext cx="4937760" cy="429768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12280" y="1627632"/>
            <a:ext cx="4572000" cy="457200"/>
          </a:xfrm>
          <a:prstGeom prst="rect">
            <a:avLst/>
          </a:prstGeom>
          <a:noFill/>
        </p:spPr>
        <p:txBody>
          <a:bodyPr wrap="square">
            <a:spAutoFit/>
          </a:bodyPr>
          <a:lstStyle/>
          <a:p>
            <a:pPr algn="l"/>
            <a:r>
              <a:rPr sz="1700" b="1">
                <a:solidFill>
                  <a:srgbClr val="0B1F3A"/>
                </a:solidFill>
                <a:latin typeface="Calibri"/>
              </a:rPr>
              <a:t>Why a registry matters</a:t>
            </a:r>
          </a:p>
        </p:txBody>
      </p:sp>
      <p:sp>
        <p:nvSpPr>
          <p:cNvPr id="8" name="TextBox 7"/>
          <p:cNvSpPr txBox="1"/>
          <p:nvPr/>
        </p:nvSpPr>
        <p:spPr>
          <a:xfrm>
            <a:off x="6812280" y="2148840"/>
            <a:ext cx="4572000" cy="3566160"/>
          </a:xfrm>
          <a:prstGeom prst="rect">
            <a:avLst/>
          </a:prstGeom>
          <a:noFill/>
        </p:spPr>
        <p:txBody>
          <a:bodyPr wrap="square">
            <a:spAutoFit/>
          </a:bodyPr>
          <a:lstStyle/>
          <a:p>
            <a:pPr>
              <a:spcAft>
                <a:spcPts val="600"/>
              </a:spcAft>
            </a:pPr>
            <a:r>
              <a:rPr sz="1400">
                <a:solidFill>
                  <a:srgbClr val="444A52"/>
                </a:solidFill>
                <a:latin typeface="Calibri"/>
              </a:rPr>
              <a:t>• Governance: only Approved models deploy</a:t>
            </a:r>
          </a:p>
          <a:p>
            <a:pPr>
              <a:spcAft>
                <a:spcPts val="600"/>
              </a:spcAft>
            </a:pPr>
            <a:r>
              <a:rPr sz="1400">
                <a:solidFill>
                  <a:srgbClr val="444A52"/>
                </a:solidFill>
                <a:latin typeface="Calibri"/>
              </a:rPr>
              <a:t>• Traceability: metrics travel with the model</a:t>
            </a:r>
          </a:p>
          <a:p>
            <a:pPr>
              <a:spcAft>
                <a:spcPts val="600"/>
              </a:spcAft>
            </a:pPr>
            <a:r>
              <a:rPr sz="1400">
                <a:solidFill>
                  <a:srgbClr val="444A52"/>
                </a:solidFill>
                <a:latin typeface="Calibri"/>
              </a:rPr>
              <a:t>• Auditability: full lineage for each version</a:t>
            </a:r>
          </a:p>
          <a:p>
            <a:pPr>
              <a:spcAft>
                <a:spcPts val="600"/>
              </a:spcAft>
            </a:pPr>
            <a:r>
              <a:rPr sz="1400">
                <a:solidFill>
                  <a:srgbClr val="444A52"/>
                </a:solidFill>
                <a:latin typeface="Calibri"/>
              </a:rPr>
              <a:t>• Safety: fast rollback if quality regresses</a:t>
            </a:r>
          </a:p>
          <a:p>
            <a:pPr>
              <a:spcAft>
                <a:spcPts val="600"/>
              </a:spcAft>
            </a:pPr>
            <a:r>
              <a:rPr sz="1400">
                <a:solidFill>
                  <a:srgbClr val="444A52"/>
                </a:solidFill>
                <a:latin typeface="Calibri"/>
              </a:rPr>
              <a:t>• Reproducibility: pin the exact artifact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spAutoFit/>
          </a:bodyPr>
          <a:lstStyle/>
          <a:p>
            <a:pPr algn="l"/>
            <a:r>
              <a:rPr sz="1300" b="1">
                <a:solidFill>
                  <a:srgbClr val="1A9E8F"/>
                </a:solidFill>
                <a:latin typeface="Calibri"/>
              </a:rPr>
              <a:t>DESIGNED FOR SAGEMAKER BATCH TRANSFORM · SHOWN AS LOCAL EQUIVALENT</a:t>
            </a:r>
          </a:p>
        </p:txBody>
      </p:sp>
      <p:sp>
        <p:nvSpPr>
          <p:cNvPr id="4" name="TextBox 3"/>
          <p:cNvSpPr txBox="1"/>
          <p:nvPr/>
        </p:nvSpPr>
        <p:spPr>
          <a:xfrm>
            <a:off x="457200" y="384048"/>
            <a:ext cx="11247120" cy="640080"/>
          </a:xfrm>
          <a:prstGeom prst="rect">
            <a:avLst/>
          </a:prstGeom>
          <a:noFill/>
        </p:spPr>
        <p:txBody>
          <a:bodyPr wrap="square">
            <a:spAutoFit/>
          </a:bodyPr>
          <a:lstStyle/>
          <a:p>
            <a:pPr algn="l"/>
            <a:r>
              <a:rPr sz="2700" b="1">
                <a:solidFill>
                  <a:srgbClr val="FFFFFF"/>
                </a:solidFill>
                <a:latin typeface="Calibri"/>
              </a:rPr>
              <a:t>Batch Inference Outputs</a:t>
            </a:r>
          </a:p>
        </p:txBody>
      </p:sp>
      <p:pic>
        <p:nvPicPr>
          <p:cNvPr id="5" name="Picture 4" descr="11_confusion_matrix.png"/>
          <p:cNvPicPr>
            <a:picLocks noChangeAspect="1"/>
          </p:cNvPicPr>
          <p:nvPr/>
        </p:nvPicPr>
        <p:blipFill>
          <a:blip r:embed="rId3"/>
          <a:stretch>
            <a:fillRect/>
          </a:stretch>
        </p:blipFill>
        <p:spPr>
          <a:xfrm>
            <a:off x="6492240" y="1371600"/>
            <a:ext cx="4241834" cy="3291840"/>
          </a:xfrm>
          <a:prstGeom prst="rect">
            <a:avLst/>
          </a:prstGeom>
        </p:spPr>
      </p:pic>
      <p:sp>
        <p:nvSpPr>
          <p:cNvPr id="6" name="TextBox 5"/>
          <p:cNvSpPr txBox="1"/>
          <p:nvPr/>
        </p:nvSpPr>
        <p:spPr>
          <a:xfrm>
            <a:off x="640080" y="1371600"/>
            <a:ext cx="5577840" cy="4572000"/>
          </a:xfrm>
          <a:prstGeom prst="rect">
            <a:avLst/>
          </a:prstGeom>
          <a:noFill/>
        </p:spPr>
        <p:txBody>
          <a:bodyPr wrap="square">
            <a:spAutoFit/>
          </a:bodyPr>
          <a:lstStyle/>
          <a:p>
            <a:pPr>
              <a:spcAft>
                <a:spcPts val="600"/>
              </a:spcAft>
            </a:pPr>
            <a:r>
              <a:rPr sz="1700">
                <a:solidFill>
                  <a:srgbClr val="444A52"/>
                </a:solidFill>
                <a:latin typeface="Calibri"/>
              </a:rPr>
              <a:t>• Batch Transform scores the 2023 cohort</a:t>
            </a:r>
          </a:p>
          <a:p>
            <a:pPr>
              <a:spcAft>
                <a:spcPts val="600"/>
              </a:spcAft>
            </a:pPr>
            <a:r>
              <a:rPr sz="1700">
                <a:solidFill>
                  <a:srgbClr val="444A52"/>
                </a:solidFill>
                <a:latin typeface="Calibri"/>
              </a:rPr>
              <a:t>• Output in S3: risk probability per record</a:t>
            </a:r>
          </a:p>
          <a:p>
            <a:pPr>
              <a:spcAft>
                <a:spcPts val="600"/>
              </a:spcAft>
            </a:pPr>
            <a:r>
              <a:rPr sz="1700">
                <a:solidFill>
                  <a:srgbClr val="444A52"/>
                </a:solidFill>
                <a:latin typeface="Calibri"/>
              </a:rPr>
              <a:t>• Threshold → prioritised outreach list</a:t>
            </a:r>
          </a:p>
          <a:p>
            <a:pPr>
              <a:spcAft>
                <a:spcPts val="600"/>
              </a:spcAft>
            </a:pPr>
            <a:r>
              <a:rPr sz="1700">
                <a:solidFill>
                  <a:srgbClr val="444A52"/>
                </a:solidFill>
                <a:latin typeface="Calibri"/>
              </a:rPr>
              <a:t>• Recall 0.819 at the chosen operating point</a:t>
            </a:r>
          </a:p>
          <a:p>
            <a:pPr>
              <a:spcAft>
                <a:spcPts val="600"/>
              </a:spcAft>
            </a:pPr>
            <a:r>
              <a:rPr sz="1700">
                <a:solidFill>
                  <a:srgbClr val="444A52"/>
                </a:solidFill>
                <a:latin typeface="Calibri"/>
              </a:rPr>
              <a:t>• Scales to hundreds of thousands of rows on ml.m5.large</a:t>
            </a:r>
          </a:p>
          <a:p>
            <a:pPr>
              <a:spcAft>
                <a:spcPts val="600"/>
              </a:spcAft>
            </a:pPr>
            <a:r>
              <a:rPr sz="1700">
                <a:solidFill>
                  <a:srgbClr val="444A52"/>
                </a:solidFill>
                <a:latin typeface="Calibri"/>
              </a:rPr>
              <a:t>• Screening prioritisation, NOT a diagnosis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spAutoFit/>
          </a:bodyPr>
          <a:lstStyle/>
          <a:p>
            <a:pPr algn="l"/>
            <a:r>
              <a:rPr sz="1300" b="1">
                <a:solidFill>
                  <a:srgbClr val="1A9E8F"/>
                </a:solidFill>
                <a:latin typeface="Calibri"/>
              </a:rPr>
              <a:t>WHAT'S NEXT</a:t>
            </a:r>
          </a:p>
        </p:txBody>
      </p:sp>
      <p:sp>
        <p:nvSpPr>
          <p:cNvPr id="4" name="TextBox 3"/>
          <p:cNvSpPr txBox="1"/>
          <p:nvPr/>
        </p:nvSpPr>
        <p:spPr>
          <a:xfrm>
            <a:off x="457200" y="384048"/>
            <a:ext cx="11247120" cy="640080"/>
          </a:xfrm>
          <a:prstGeom prst="rect">
            <a:avLst/>
          </a:prstGeom>
          <a:noFill/>
        </p:spPr>
        <p:txBody>
          <a:bodyPr wrap="square">
            <a:spAutoFit/>
          </a:bodyPr>
          <a:lstStyle/>
          <a:p>
            <a:pPr algn="l"/>
            <a:r>
              <a:rPr sz="2700" b="1">
                <a:solidFill>
                  <a:srgbClr val="FFFFFF"/>
                </a:solidFill>
                <a:latin typeface="Calibri"/>
              </a:rPr>
              <a:t>Future Improvements, Risks &amp; Wrap-up</a:t>
            </a:r>
          </a:p>
        </p:txBody>
      </p:sp>
      <p:sp>
        <p:nvSpPr>
          <p:cNvPr id="5" name="TextBox 4"/>
          <p:cNvSpPr txBox="1"/>
          <p:nvPr/>
        </p:nvSpPr>
        <p:spPr>
          <a:xfrm>
            <a:off x="640080" y="1371600"/>
            <a:ext cx="5760720" cy="4846320"/>
          </a:xfrm>
          <a:prstGeom prst="rect">
            <a:avLst/>
          </a:prstGeom>
          <a:noFill/>
        </p:spPr>
        <p:txBody>
          <a:bodyPr wrap="square">
            <a:spAutoFit/>
          </a:bodyPr>
          <a:lstStyle/>
          <a:p>
            <a:pPr>
              <a:spcAft>
                <a:spcPts val="600"/>
              </a:spcAft>
            </a:pPr>
            <a:r>
              <a:rPr sz="1800">
                <a:solidFill>
                  <a:srgbClr val="444A52"/>
                </a:solidFill>
                <a:latin typeface="Calibri"/>
              </a:rPr>
              <a:t>• Calibration + explicit screening-budget threshold</a:t>
            </a:r>
          </a:p>
          <a:p>
            <a:pPr>
              <a:spcAft>
                <a:spcPts val="600"/>
              </a:spcAft>
            </a:pPr>
            <a:r>
              <a:rPr sz="1800">
                <a:solidFill>
                  <a:srgbClr val="444A52"/>
                </a:solidFill>
                <a:latin typeface="Calibri"/>
              </a:rPr>
              <a:t>• Odd-year model w/ blood pressure &amp; cholesterol</a:t>
            </a:r>
          </a:p>
          <a:p>
            <a:pPr>
              <a:spcAft>
                <a:spcPts val="600"/>
              </a:spcAft>
            </a:pPr>
            <a:r>
              <a:rPr sz="1800">
                <a:solidFill>
                  <a:srgbClr val="444A52"/>
                </a:solidFill>
                <a:latin typeface="Calibri"/>
              </a:rPr>
              <a:t>• Survey-weighted metrics for US-population estimates</a:t>
            </a:r>
          </a:p>
          <a:p>
            <a:pPr>
              <a:spcAft>
                <a:spcPts val="600"/>
              </a:spcAft>
            </a:pPr>
            <a:r>
              <a:rPr sz="1800">
                <a:solidFill>
                  <a:srgbClr val="444A52"/>
                </a:solidFill>
                <a:latin typeface="Calibri"/>
              </a:rPr>
              <a:t>• SHAP explainability + automated fairness gate in CI/CD</a:t>
            </a:r>
          </a:p>
        </p:txBody>
      </p:sp>
      <p:sp>
        <p:nvSpPr>
          <p:cNvPr id="6" name="Rectangle 5"/>
          <p:cNvSpPr/>
          <p:nvPr/>
        </p:nvSpPr>
        <p:spPr>
          <a:xfrm>
            <a:off x="6583680" y="1417320"/>
            <a:ext cx="4937760" cy="457200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12280" y="1600200"/>
            <a:ext cx="4572000" cy="457200"/>
          </a:xfrm>
          <a:prstGeom prst="rect">
            <a:avLst/>
          </a:prstGeom>
          <a:noFill/>
        </p:spPr>
        <p:txBody>
          <a:bodyPr wrap="square">
            <a:spAutoFit/>
          </a:bodyPr>
          <a:lstStyle/>
          <a:p>
            <a:pPr algn="l"/>
            <a:r>
              <a:rPr sz="1700" b="1">
                <a:solidFill>
                  <a:srgbClr val="0B1F3A"/>
                </a:solidFill>
                <a:latin typeface="Calibri"/>
              </a:rPr>
              <a:t>Risks to manage</a:t>
            </a:r>
          </a:p>
        </p:txBody>
      </p:sp>
      <p:sp>
        <p:nvSpPr>
          <p:cNvPr id="8" name="TextBox 7"/>
          <p:cNvSpPr txBox="1"/>
          <p:nvPr/>
        </p:nvSpPr>
        <p:spPr>
          <a:xfrm>
            <a:off x="6812280" y="2148840"/>
            <a:ext cx="4572000" cy="3657600"/>
          </a:xfrm>
          <a:prstGeom prst="rect">
            <a:avLst/>
          </a:prstGeom>
          <a:noFill/>
        </p:spPr>
        <p:txBody>
          <a:bodyPr wrap="square">
            <a:spAutoFit/>
          </a:bodyPr>
          <a:lstStyle/>
          <a:p>
            <a:pPr>
              <a:spcAft>
                <a:spcPts val="600"/>
              </a:spcAft>
            </a:pPr>
            <a:r>
              <a:rPr sz="1500">
                <a:solidFill>
                  <a:srgbClr val="444A52"/>
                </a:solidFill>
                <a:latin typeface="Calibri"/>
              </a:rPr>
              <a:t>• Low recall for younger adults — never use to rule OUT risk</a:t>
            </a:r>
          </a:p>
          <a:p>
            <a:pPr>
              <a:spcAft>
                <a:spcPts val="600"/>
              </a:spcAft>
            </a:pPr>
            <a:r>
              <a:rPr sz="1500">
                <a:solidFill>
                  <a:srgbClr val="444A52"/>
                </a:solidFill>
                <a:latin typeface="Calibri"/>
              </a:rPr>
              <a:t>• Self-report / telephone-survey selection bias</a:t>
            </a:r>
          </a:p>
          <a:p>
            <a:pPr>
              <a:spcAft>
                <a:spcPts val="600"/>
              </a:spcAft>
            </a:pPr>
            <a:r>
              <a:rPr sz="1500">
                <a:solidFill>
                  <a:srgbClr val="444A52"/>
                </a:solidFill>
                <a:latin typeface="Calibri"/>
              </a:rPr>
              <a:t>• Ethical: no insurance / discriminatory use</a:t>
            </a:r>
          </a:p>
          <a:p>
            <a:pPr>
              <a:spcAft>
                <a:spcPts val="600"/>
              </a:spcAft>
            </a:pPr>
            <a:r>
              <a:rPr sz="1500">
                <a:solidFill>
                  <a:srgbClr val="444A52"/>
                </a:solidFill>
                <a:latin typeface="Calibri"/>
              </a:rPr>
              <a:t>• Technical: cross-year schema drift (harmonised)</a:t>
            </a:r>
          </a:p>
          <a:p>
            <a:pPr>
              <a:spcAft>
                <a:spcPts val="600"/>
              </a:spcAft>
            </a:pPr>
            <a:r>
              <a:rPr sz="1500">
                <a:solidFill>
                  <a:srgbClr val="444A52"/>
                </a:solidFill>
                <a:latin typeface="Calibri"/>
              </a:rPr>
              <a:t>• Scalability/cost: low — batch on CPU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73152"/>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914400"/>
          </a:xfrm>
          <a:prstGeom prst="rect">
            <a:avLst/>
          </a:prstGeom>
          <a:noFill/>
        </p:spPr>
        <p:txBody>
          <a:bodyPr wrap="square">
            <a:spAutoFit/>
          </a:bodyPr>
          <a:lstStyle/>
          <a:p>
            <a:pPr algn="l"/>
            <a:r>
              <a:rPr sz="4800" b="1">
                <a:solidFill>
                  <a:srgbClr val="FFFFFF"/>
                </a:solidFill>
                <a:latin typeface="Calibri"/>
              </a:rPr>
              <a:t>Thank You</a:t>
            </a:r>
          </a:p>
        </p:txBody>
      </p:sp>
      <p:sp>
        <p:nvSpPr>
          <p:cNvPr id="5" name="TextBox 4"/>
          <p:cNvSpPr txBox="1"/>
          <p:nvPr/>
        </p:nvSpPr>
        <p:spPr>
          <a:xfrm>
            <a:off x="731520" y="2926080"/>
            <a:ext cx="10698480" cy="1097280"/>
          </a:xfrm>
          <a:prstGeom prst="rect">
            <a:avLst/>
          </a:prstGeom>
          <a:noFill/>
        </p:spPr>
        <p:txBody>
          <a:bodyPr wrap="square">
            <a:spAutoFit/>
          </a:bodyPr>
          <a:lstStyle/>
          <a:p>
            <a:pPr algn="l"/>
            <a:r>
              <a:rPr sz="2000" b="0">
                <a:solidFill>
                  <a:srgbClr val="1A9E8F"/>
                </a:solidFill>
                <a:latin typeface="Calibri"/>
              </a:rPr>
              <a:t>GitHub: https://github.com/adashis19/AAI-540-Group-2.git</a:t>
            </a:r>
          </a:p>
          <a:p>
            <a:pPr algn="l"/>
            <a:r>
              <a:rPr sz="2000" b="0">
                <a:solidFill>
                  <a:srgbClr val="1A9E8F"/>
                </a:solidFill>
                <a:latin typeface="Calibri"/>
              </a:rPr>
              <a:t>AAI-540 · Group 2 · Heart-Disease Risk Screening MLOps</a:t>
            </a:r>
          </a:p>
        </p:txBody>
      </p:sp>
      <p:sp>
        <p:nvSpPr>
          <p:cNvPr id="6" name="TextBox 5"/>
          <p:cNvSpPr txBox="1"/>
          <p:nvPr/>
        </p:nvSpPr>
        <p:spPr>
          <a:xfrm>
            <a:off x="731520" y="4572000"/>
            <a:ext cx="10698480" cy="914400"/>
          </a:xfrm>
          <a:prstGeom prst="rect">
            <a:avLst/>
          </a:prstGeom>
          <a:noFill/>
        </p:spPr>
        <p:txBody>
          <a:bodyPr wrap="square">
            <a:spAutoFit/>
          </a:bodyPr>
          <a:lstStyle/>
          <a:p>
            <a:pPr algn="l"/>
            <a:r>
              <a:rPr sz="1800" b="0">
                <a:solidFill>
                  <a:srgbClr val="FFFFFF"/>
                </a:solidFill>
                <a:latin typeface="Calibri"/>
              </a:rPr>
              <a:t>Ashis Das  ·  Hanmant Mhalappa Kattimani  ·  Ram Prasanth 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